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6217920"/>
            <a:ext cx="12161520" cy="640080"/>
          </a:xfrm>
          <a:prstGeom prst="rect">
            <a:avLst/>
          </a:prstGeom>
          <a:solidFill>
            <a:srgbClr val="090909"/>
          </a:solidFill>
          <a:ln/>
        </p:spPr>
      </p:sp>
      <p:sp>
        <p:nvSpPr>
          <p:cNvPr id="3" name="Text 1"/>
          <p:cNvSpPr/>
          <p:nvPr/>
        </p:nvSpPr>
        <p:spPr>
          <a:xfrm>
            <a:off x="457200" y="320040"/>
            <a:ext cx="5486400" cy="256032"/>
          </a:xfrm>
          <a:prstGeom prst="rect">
            <a:avLst/>
          </a:prstGeom>
          <a:noFill/>
          <a:ln/>
        </p:spPr>
        <p:txBody>
          <a:bodyPr wrap="square" rtlCol="0" anchor="ctr"/>
          <a:lstStyle/>
          <a:p>
            <a:pPr algn="l" indent="0" marL="0">
              <a:buNone/>
            </a:pPr>
            <a:r>
              <a:rPr lang="en-US" sz="900" spc="300" kern="0" dirty="0">
                <a:solidFill>
                  <a:srgbClr val="F5A800"/>
                </a:solidFill>
                <a:latin typeface="Courier New" pitchFamily="34" charset="0"/>
                <a:ea typeface="Courier New" pitchFamily="34" charset="-122"/>
                <a:cs typeface="Courier New" pitchFamily="34" charset="-120"/>
              </a:rPr>
              <a:t>PARTNERSHIP PROPOSAL  ·  APRIL 2026</a:t>
            </a:r>
            <a:endParaRPr lang="en-US" sz="900" dirty="0"/>
          </a:p>
        </p:txBody>
      </p:sp>
      <p:sp>
        <p:nvSpPr>
          <p:cNvPr id="4" name="Text 2"/>
          <p:cNvSpPr/>
          <p:nvPr/>
        </p:nvSpPr>
        <p:spPr>
          <a:xfrm>
            <a:off x="457200" y="640080"/>
            <a:ext cx="7315200" cy="1463040"/>
          </a:xfrm>
          <a:prstGeom prst="rect">
            <a:avLst/>
          </a:prstGeom>
          <a:noFill/>
          <a:ln/>
        </p:spPr>
        <p:txBody>
          <a:bodyPr wrap="square" rtlCol="0" anchor="ctr"/>
          <a:lstStyle/>
          <a:p>
            <a:pPr indent="0" marL="0">
              <a:buNone/>
            </a:pPr>
            <a:r>
              <a:rPr lang="en-US" sz="7200" b="1" dirty="0">
                <a:solidFill>
                  <a:srgbClr val="F5A800"/>
                </a:solidFill>
                <a:latin typeface="Georgia" pitchFamily="34" charset="0"/>
                <a:ea typeface="Georgia" pitchFamily="34" charset="-122"/>
                <a:cs typeface="Georgia" pitchFamily="34" charset="-120"/>
              </a:rPr>
              <a:t>Forge</a:t>
            </a:r>
            <a:endParaRPr lang="en-US" sz="7200" dirty="0"/>
          </a:p>
        </p:txBody>
      </p:sp>
      <p:sp>
        <p:nvSpPr>
          <p:cNvPr id="5" name="Text 3"/>
          <p:cNvSpPr/>
          <p:nvPr/>
        </p:nvSpPr>
        <p:spPr>
          <a:xfrm>
            <a:off x="457200" y="2057400"/>
            <a:ext cx="8229600" cy="1280160"/>
          </a:xfrm>
          <a:prstGeom prst="rect">
            <a:avLst/>
          </a:prstGeom>
          <a:noFill/>
          <a:ln/>
        </p:spPr>
        <p:txBody>
          <a:bodyPr wrap="square" rtlCol="0" anchor="ctr"/>
          <a:lstStyle/>
          <a:p>
            <a:pPr algn="l" indent="0" marL="0">
              <a:buNone/>
            </a:pPr>
            <a:r>
              <a:rPr lang="en-US" sz="3200" dirty="0">
                <a:solidFill>
                  <a:srgbClr val="F2EFE9"/>
                </a:solidFill>
                <a:latin typeface="Georgia" pitchFamily="34" charset="0"/>
                <a:ea typeface="Georgia" pitchFamily="34" charset="-122"/>
                <a:cs typeface="Georgia" pitchFamily="34" charset="-120"/>
              </a:rPr>
              <a:t>What Quicken's data can do</a:t>
            </a:r>
            <a:endParaRPr lang="en-US" sz="3200" dirty="0"/>
          </a:p>
          <a:p>
            <a:pPr algn="l" indent="0" marL="0">
              <a:buNone/>
            </a:pPr>
            <a:r>
              <a:rPr lang="en-US" sz="3200" dirty="0">
                <a:solidFill>
                  <a:srgbClr val="F2EFE9"/>
                </a:solidFill>
                <a:latin typeface="Georgia" pitchFamily="34" charset="0"/>
                <a:ea typeface="Georgia" pitchFamily="34" charset="-122"/>
                <a:cs typeface="Georgia" pitchFamily="34" charset="-120"/>
              </a:rPr>
              <a:t>when it's set free.</a:t>
            </a:r>
            <a:endParaRPr lang="en-US" sz="3200" dirty="0"/>
          </a:p>
        </p:txBody>
      </p:sp>
      <p:sp>
        <p:nvSpPr>
          <p:cNvPr id="6" name="Text 4"/>
          <p:cNvSpPr/>
          <p:nvPr/>
        </p:nvSpPr>
        <p:spPr>
          <a:xfrm>
            <a:off x="457200" y="3429000"/>
            <a:ext cx="8686800" cy="731520"/>
          </a:xfrm>
          <a:prstGeom prst="rect">
            <a:avLst/>
          </a:prstGeom>
          <a:noFill/>
          <a:ln/>
        </p:spPr>
        <p:txBody>
          <a:bodyPr wrap="square" rtlCol="0" anchor="ctr"/>
          <a:lstStyle/>
          <a:p>
            <a:pPr indent="0" marL="0">
              <a:buNone/>
            </a:pPr>
            <a:r>
              <a:rPr lang="en-US" sz="1500" dirty="0">
                <a:solidFill>
                  <a:srgbClr val="9CA3AF"/>
                </a:solidFill>
                <a:latin typeface="Arial" pitchFamily="34" charset="0"/>
                <a:ea typeface="Arial" pitchFamily="34" charset="-122"/>
                <a:cs typeface="Arial" pitchFamily="34" charset="-120"/>
              </a:rPr>
              <a:t>A proposal to license or acquire Forge as Quicken Analytics Premium — transforming Quicken from a ledger into a family financial intelligence platform.</a:t>
            </a:r>
            <a:endParaRPr lang="en-US" sz="1500" dirty="0"/>
          </a:p>
        </p:txBody>
      </p:sp>
      <p:sp>
        <p:nvSpPr>
          <p:cNvPr id="7" name="Shape 5"/>
          <p:cNvSpPr/>
          <p:nvPr/>
        </p:nvSpPr>
        <p:spPr>
          <a:xfrm>
            <a:off x="457200" y="4754880"/>
            <a:ext cx="11247120" cy="0"/>
          </a:xfrm>
          <a:prstGeom prst="line">
            <a:avLst/>
          </a:prstGeom>
          <a:noFill/>
          <a:ln w="19050">
            <a:solidFill>
              <a:srgbClr val="F5A800"/>
            </a:solidFill>
            <a:prstDash val="solid"/>
          </a:ln>
        </p:spPr>
      </p:sp>
      <p:sp>
        <p:nvSpPr>
          <p:cNvPr id="8" name="Text 6"/>
          <p:cNvSpPr/>
          <p:nvPr/>
        </p:nvSpPr>
        <p:spPr>
          <a:xfrm>
            <a:off x="457200" y="4937760"/>
            <a:ext cx="9144000" cy="365760"/>
          </a:xfrm>
          <a:prstGeom prst="rect">
            <a:avLst/>
          </a:prstGeom>
          <a:noFill/>
          <a:ln/>
        </p:spPr>
        <p:txBody>
          <a:bodyPr wrap="square" rtlCol="0" anchor="ctr"/>
          <a:lstStyle/>
          <a:p>
            <a:pPr indent="0" marL="0">
              <a:buNone/>
            </a:pPr>
            <a:r>
              <a:rPr lang="en-US" sz="1100" dirty="0">
                <a:solidFill>
                  <a:srgbClr val="6B7280"/>
                </a:solidFill>
                <a:latin typeface="Courier New" pitchFamily="34" charset="0"/>
                <a:ea typeface="Courier New" pitchFamily="34" charset="-122"/>
                <a:cs typeface="Courier New" pitchFamily="34" charset="-120"/>
              </a:rPr>
              <a:t>LukaLab  ·  Pittsburgh, PA  ·  luka731chris.github.io/Forge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274320"/>
            <a:ext cx="5486400" cy="256032"/>
          </a:xfrm>
          <a:prstGeom prst="rect">
            <a:avLst/>
          </a:prstGeom>
          <a:noFill/>
          <a:ln/>
        </p:spPr>
        <p:txBody>
          <a:bodyPr wrap="square" rtlCol="0" anchor="ctr"/>
          <a:lstStyle/>
          <a:p>
            <a:pPr algn="l" indent="0" marL="0">
              <a:buNone/>
            </a:pPr>
            <a:r>
              <a:rPr lang="en-US" sz="900" spc="300" kern="0" dirty="0">
                <a:solidFill>
                  <a:srgbClr val="F5A800"/>
                </a:solidFill>
                <a:latin typeface="Courier New" pitchFamily="34" charset="0"/>
                <a:ea typeface="Courier New" pitchFamily="34" charset="-122"/>
                <a:cs typeface="Courier New" pitchFamily="34" charset="-120"/>
              </a:rPr>
              <a:t>THE OPPORTUNITY</a:t>
            </a:r>
            <a:endParaRPr lang="en-US" sz="900" dirty="0"/>
          </a:p>
        </p:txBody>
      </p:sp>
      <p:sp>
        <p:nvSpPr>
          <p:cNvPr id="3" name="Text 1"/>
          <p:cNvSpPr/>
          <p:nvPr/>
        </p:nvSpPr>
        <p:spPr>
          <a:xfrm>
            <a:off x="457200" y="411480"/>
            <a:ext cx="11247120" cy="1645920"/>
          </a:xfrm>
          <a:prstGeom prst="rect">
            <a:avLst/>
          </a:prstGeom>
          <a:noFill/>
          <a:ln/>
        </p:spPr>
        <p:txBody>
          <a:bodyPr wrap="square" rtlCol="0" anchor="t"/>
          <a:lstStyle/>
          <a:p>
            <a:pPr algn="l" indent="0" marL="0">
              <a:buNone/>
            </a:pPr>
            <a:r>
              <a:rPr lang="en-US" sz="3200" b="1" dirty="0">
                <a:solidFill>
                  <a:srgbClr val="F2EFE9"/>
                </a:solidFill>
                <a:latin typeface="Georgia" pitchFamily="34" charset="0"/>
                <a:ea typeface="Georgia" pitchFamily="34" charset="-122"/>
                <a:cs typeface="Georgia" pitchFamily="34" charset="-120"/>
              </a:rPr>
              <a:t>Quicken has the data.</a:t>
            </a:r>
            <a:endParaRPr lang="en-US" sz="3200" dirty="0"/>
          </a:p>
          <a:p>
            <a:pPr algn="l" indent="0" marL="0">
              <a:buNone/>
            </a:pPr>
            <a:r>
              <a:rPr lang="en-US" sz="3200" b="1" dirty="0">
                <a:solidFill>
                  <a:srgbClr val="F2EFE9"/>
                </a:solidFill>
                <a:latin typeface="Georgia" pitchFamily="34" charset="0"/>
                <a:ea typeface="Georgia" pitchFamily="34" charset="-122"/>
                <a:cs typeface="Georgia" pitchFamily="34" charset="-120"/>
              </a:rPr>
              <a:t>The UI has never matched it.</a:t>
            </a:r>
            <a:endParaRPr lang="en-US" sz="3200" dirty="0"/>
          </a:p>
        </p:txBody>
      </p:sp>
      <p:sp>
        <p:nvSpPr>
          <p:cNvPr id="4" name="Shape 2"/>
          <p:cNvSpPr/>
          <p:nvPr/>
        </p:nvSpPr>
        <p:spPr>
          <a:xfrm>
            <a:off x="457200" y="1965960"/>
            <a:ext cx="11247120" cy="0"/>
          </a:xfrm>
          <a:prstGeom prst="line">
            <a:avLst/>
          </a:prstGeom>
          <a:noFill/>
          <a:ln w="19050">
            <a:solidFill>
              <a:srgbClr val="F5A800"/>
            </a:solidFill>
            <a:prstDash val="solid"/>
          </a:ln>
        </p:spPr>
      </p:sp>
      <p:sp>
        <p:nvSpPr>
          <p:cNvPr id="5" name="Shape 3"/>
          <p:cNvSpPr/>
          <p:nvPr/>
        </p:nvSpPr>
        <p:spPr>
          <a:xfrm>
            <a:off x="457200" y="2148840"/>
            <a:ext cx="5394960" cy="1554480"/>
          </a:xfrm>
          <a:prstGeom prst="rect">
            <a:avLst/>
          </a:prstGeom>
          <a:solidFill>
            <a:srgbClr val="1C1C1C"/>
          </a:solidFill>
          <a:ln w="6350">
            <a:solidFill>
              <a:srgbClr val="2A2A2A"/>
            </a:solidFill>
            <a:prstDash val="solid"/>
          </a:ln>
        </p:spPr>
      </p:sp>
      <p:sp>
        <p:nvSpPr>
          <p:cNvPr id="6" name="Shape 4"/>
          <p:cNvSpPr/>
          <p:nvPr/>
        </p:nvSpPr>
        <p:spPr>
          <a:xfrm>
            <a:off x="457200" y="2148840"/>
            <a:ext cx="109728" cy="1554480"/>
          </a:xfrm>
          <a:prstGeom prst="rect">
            <a:avLst/>
          </a:prstGeom>
          <a:solidFill>
            <a:srgbClr val="F5A800"/>
          </a:solidFill>
          <a:ln/>
        </p:spPr>
      </p:sp>
      <p:sp>
        <p:nvSpPr>
          <p:cNvPr id="7" name="Text 5"/>
          <p:cNvSpPr/>
          <p:nvPr/>
        </p:nvSpPr>
        <p:spPr>
          <a:xfrm>
            <a:off x="685800" y="2331720"/>
            <a:ext cx="5029200" cy="640080"/>
          </a:xfrm>
          <a:prstGeom prst="rect">
            <a:avLst/>
          </a:prstGeom>
          <a:noFill/>
          <a:ln/>
        </p:spPr>
        <p:txBody>
          <a:bodyPr wrap="square" rtlCol="0" anchor="ctr"/>
          <a:lstStyle/>
          <a:p>
            <a:pPr indent="0" marL="0">
              <a:buNone/>
            </a:pPr>
            <a:r>
              <a:rPr lang="en-US" sz="4000" b="1" dirty="0">
                <a:solidFill>
                  <a:srgbClr val="F5A800"/>
                </a:solidFill>
                <a:latin typeface="Georgia" pitchFamily="34" charset="0"/>
                <a:ea typeface="Georgia" pitchFamily="34" charset="-122"/>
                <a:cs typeface="Georgia" pitchFamily="34" charset="-120"/>
              </a:rPr>
              <a:t>$2.4B+</a:t>
            </a:r>
            <a:endParaRPr lang="en-US" sz="4000" dirty="0"/>
          </a:p>
        </p:txBody>
      </p:sp>
      <p:sp>
        <p:nvSpPr>
          <p:cNvPr id="8" name="Text 6"/>
          <p:cNvSpPr/>
          <p:nvPr/>
        </p:nvSpPr>
        <p:spPr>
          <a:xfrm>
            <a:off x="685800" y="2971800"/>
            <a:ext cx="5029200" cy="594360"/>
          </a:xfrm>
          <a:prstGeom prst="rect">
            <a:avLst/>
          </a:prstGeom>
          <a:noFill/>
          <a:ln/>
        </p:spPr>
        <p:txBody>
          <a:bodyPr wrap="square" rtlCol="0" anchor="ctr"/>
          <a:lstStyle/>
          <a:p>
            <a:pPr indent="0" marL="0">
              <a:buNone/>
            </a:pPr>
            <a:r>
              <a:rPr lang="en-US" sz="1300" dirty="0">
                <a:solidFill>
                  <a:srgbClr val="9CA3AF"/>
                </a:solidFill>
                <a:latin typeface="Arial" pitchFamily="34" charset="0"/>
                <a:ea typeface="Arial" pitchFamily="34" charset="-122"/>
                <a:cs typeface="Arial" pitchFamily="34" charset="-120"/>
              </a:rPr>
              <a:t>Personal finance software market, growing 6% annually</a:t>
            </a:r>
            <a:endParaRPr lang="en-US" sz="1300" dirty="0"/>
          </a:p>
        </p:txBody>
      </p:sp>
      <p:sp>
        <p:nvSpPr>
          <p:cNvPr id="9" name="Shape 7"/>
          <p:cNvSpPr/>
          <p:nvPr/>
        </p:nvSpPr>
        <p:spPr>
          <a:xfrm>
            <a:off x="6309360" y="2148840"/>
            <a:ext cx="5394960" cy="1554480"/>
          </a:xfrm>
          <a:prstGeom prst="rect">
            <a:avLst/>
          </a:prstGeom>
          <a:solidFill>
            <a:srgbClr val="1C1C1C"/>
          </a:solidFill>
          <a:ln w="6350">
            <a:solidFill>
              <a:srgbClr val="2A2A2A"/>
            </a:solidFill>
            <a:prstDash val="solid"/>
          </a:ln>
        </p:spPr>
      </p:sp>
      <p:sp>
        <p:nvSpPr>
          <p:cNvPr id="10" name="Shape 8"/>
          <p:cNvSpPr/>
          <p:nvPr/>
        </p:nvSpPr>
        <p:spPr>
          <a:xfrm>
            <a:off x="6309360" y="2148840"/>
            <a:ext cx="109728" cy="1554480"/>
          </a:xfrm>
          <a:prstGeom prst="rect">
            <a:avLst/>
          </a:prstGeom>
          <a:solidFill>
            <a:srgbClr val="F5A800"/>
          </a:solidFill>
          <a:ln/>
        </p:spPr>
      </p:sp>
      <p:sp>
        <p:nvSpPr>
          <p:cNvPr id="11" name="Text 9"/>
          <p:cNvSpPr/>
          <p:nvPr/>
        </p:nvSpPr>
        <p:spPr>
          <a:xfrm>
            <a:off x="6537960" y="2331720"/>
            <a:ext cx="5029200" cy="640080"/>
          </a:xfrm>
          <a:prstGeom prst="rect">
            <a:avLst/>
          </a:prstGeom>
          <a:noFill/>
          <a:ln/>
        </p:spPr>
        <p:txBody>
          <a:bodyPr wrap="square" rtlCol="0" anchor="ctr"/>
          <a:lstStyle/>
          <a:p>
            <a:pPr indent="0" marL="0">
              <a:buNone/>
            </a:pPr>
            <a:r>
              <a:rPr lang="en-US" sz="4000" b="1" dirty="0">
                <a:solidFill>
                  <a:srgbClr val="F5A800"/>
                </a:solidFill>
                <a:latin typeface="Georgia" pitchFamily="34" charset="0"/>
                <a:ea typeface="Georgia" pitchFamily="34" charset="-122"/>
                <a:cs typeface="Georgia" pitchFamily="34" charset="-120"/>
              </a:rPr>
              <a:t>~3M</a:t>
            </a:r>
            <a:endParaRPr lang="en-US" sz="4000" dirty="0"/>
          </a:p>
        </p:txBody>
      </p:sp>
      <p:sp>
        <p:nvSpPr>
          <p:cNvPr id="12" name="Text 10"/>
          <p:cNvSpPr/>
          <p:nvPr/>
        </p:nvSpPr>
        <p:spPr>
          <a:xfrm>
            <a:off x="6537960" y="2971800"/>
            <a:ext cx="5029200" cy="594360"/>
          </a:xfrm>
          <a:prstGeom prst="rect">
            <a:avLst/>
          </a:prstGeom>
          <a:noFill/>
          <a:ln/>
        </p:spPr>
        <p:txBody>
          <a:bodyPr wrap="square" rtlCol="0" anchor="ctr"/>
          <a:lstStyle/>
          <a:p>
            <a:pPr indent="0" marL="0">
              <a:buNone/>
            </a:pPr>
            <a:r>
              <a:rPr lang="en-US" sz="1300" dirty="0">
                <a:solidFill>
                  <a:srgbClr val="9CA3AF"/>
                </a:solidFill>
                <a:latin typeface="Arial" pitchFamily="34" charset="0"/>
                <a:ea typeface="Arial" pitchFamily="34" charset="-122"/>
                <a:cs typeface="Arial" pitchFamily="34" charset="-120"/>
              </a:rPr>
              <a:t>Active Quicken subscribers already exporting data</a:t>
            </a:r>
            <a:endParaRPr lang="en-US" sz="1300" dirty="0"/>
          </a:p>
        </p:txBody>
      </p:sp>
      <p:sp>
        <p:nvSpPr>
          <p:cNvPr id="13" name="Shape 11"/>
          <p:cNvSpPr/>
          <p:nvPr/>
        </p:nvSpPr>
        <p:spPr>
          <a:xfrm>
            <a:off x="457200" y="3977640"/>
            <a:ext cx="5394960" cy="1554480"/>
          </a:xfrm>
          <a:prstGeom prst="rect">
            <a:avLst/>
          </a:prstGeom>
          <a:solidFill>
            <a:srgbClr val="1C1C1C"/>
          </a:solidFill>
          <a:ln w="6350">
            <a:solidFill>
              <a:srgbClr val="2A2A2A"/>
            </a:solidFill>
            <a:prstDash val="solid"/>
          </a:ln>
        </p:spPr>
      </p:sp>
      <p:sp>
        <p:nvSpPr>
          <p:cNvPr id="14" name="Shape 12"/>
          <p:cNvSpPr/>
          <p:nvPr/>
        </p:nvSpPr>
        <p:spPr>
          <a:xfrm>
            <a:off x="457200" y="3977640"/>
            <a:ext cx="109728" cy="1554480"/>
          </a:xfrm>
          <a:prstGeom prst="rect">
            <a:avLst/>
          </a:prstGeom>
          <a:solidFill>
            <a:srgbClr val="F5A800"/>
          </a:solidFill>
          <a:ln/>
        </p:spPr>
      </p:sp>
      <p:sp>
        <p:nvSpPr>
          <p:cNvPr id="15" name="Text 13"/>
          <p:cNvSpPr/>
          <p:nvPr/>
        </p:nvSpPr>
        <p:spPr>
          <a:xfrm>
            <a:off x="685800" y="4160520"/>
            <a:ext cx="5029200" cy="640080"/>
          </a:xfrm>
          <a:prstGeom prst="rect">
            <a:avLst/>
          </a:prstGeom>
          <a:noFill/>
          <a:ln/>
        </p:spPr>
        <p:txBody>
          <a:bodyPr wrap="square" rtlCol="0" anchor="ctr"/>
          <a:lstStyle/>
          <a:p>
            <a:pPr indent="0" marL="0">
              <a:buNone/>
            </a:pPr>
            <a:r>
              <a:rPr lang="en-US" sz="4000" b="1" dirty="0">
                <a:solidFill>
                  <a:srgbClr val="F5A800"/>
                </a:solidFill>
                <a:latin typeface="Georgia" pitchFamily="34" charset="0"/>
                <a:ea typeface="Georgia" pitchFamily="34" charset="-122"/>
                <a:cs typeface="Georgia" pitchFamily="34" charset="-120"/>
              </a:rPr>
              <a:t>$0</a:t>
            </a:r>
            <a:endParaRPr lang="en-US" sz="4000" dirty="0"/>
          </a:p>
        </p:txBody>
      </p:sp>
      <p:sp>
        <p:nvSpPr>
          <p:cNvPr id="16" name="Text 14"/>
          <p:cNvSpPr/>
          <p:nvPr/>
        </p:nvSpPr>
        <p:spPr>
          <a:xfrm>
            <a:off x="685800" y="4800600"/>
            <a:ext cx="5029200" cy="594360"/>
          </a:xfrm>
          <a:prstGeom prst="rect">
            <a:avLst/>
          </a:prstGeom>
          <a:noFill/>
          <a:ln/>
        </p:spPr>
        <p:txBody>
          <a:bodyPr wrap="square" rtlCol="0" anchor="ctr"/>
          <a:lstStyle/>
          <a:p>
            <a:pPr indent="0" marL="0">
              <a:buNone/>
            </a:pPr>
            <a:r>
              <a:rPr lang="en-US" sz="1300" dirty="0">
                <a:solidFill>
                  <a:srgbClr val="9CA3AF"/>
                </a:solidFill>
                <a:latin typeface="Arial" pitchFamily="34" charset="0"/>
                <a:ea typeface="Arial" pitchFamily="34" charset="-122"/>
                <a:cs typeface="Arial" pitchFamily="34" charset="-120"/>
              </a:rPr>
              <a:t>Revenue Quicken earns from what users do with that exported data</a:t>
            </a:r>
            <a:endParaRPr lang="en-US" sz="1300" dirty="0"/>
          </a:p>
        </p:txBody>
      </p:sp>
      <p:sp>
        <p:nvSpPr>
          <p:cNvPr id="17" name="Shape 15"/>
          <p:cNvSpPr/>
          <p:nvPr/>
        </p:nvSpPr>
        <p:spPr>
          <a:xfrm>
            <a:off x="6309360" y="3977640"/>
            <a:ext cx="5394960" cy="1554480"/>
          </a:xfrm>
          <a:prstGeom prst="rect">
            <a:avLst/>
          </a:prstGeom>
          <a:solidFill>
            <a:srgbClr val="1C1C1C"/>
          </a:solidFill>
          <a:ln w="6350">
            <a:solidFill>
              <a:srgbClr val="2A2A2A"/>
            </a:solidFill>
            <a:prstDash val="solid"/>
          </a:ln>
        </p:spPr>
      </p:sp>
      <p:sp>
        <p:nvSpPr>
          <p:cNvPr id="18" name="Shape 16"/>
          <p:cNvSpPr/>
          <p:nvPr/>
        </p:nvSpPr>
        <p:spPr>
          <a:xfrm>
            <a:off x="6309360" y="3977640"/>
            <a:ext cx="109728" cy="1554480"/>
          </a:xfrm>
          <a:prstGeom prst="rect">
            <a:avLst/>
          </a:prstGeom>
          <a:solidFill>
            <a:srgbClr val="F5A800"/>
          </a:solidFill>
          <a:ln/>
        </p:spPr>
      </p:sp>
      <p:sp>
        <p:nvSpPr>
          <p:cNvPr id="19" name="Text 17"/>
          <p:cNvSpPr/>
          <p:nvPr/>
        </p:nvSpPr>
        <p:spPr>
          <a:xfrm>
            <a:off x="6537960" y="4160520"/>
            <a:ext cx="5029200" cy="640080"/>
          </a:xfrm>
          <a:prstGeom prst="rect">
            <a:avLst/>
          </a:prstGeom>
          <a:noFill/>
          <a:ln/>
        </p:spPr>
        <p:txBody>
          <a:bodyPr wrap="square" rtlCol="0" anchor="ctr"/>
          <a:lstStyle/>
          <a:p>
            <a:pPr indent="0" marL="0">
              <a:buNone/>
            </a:pPr>
            <a:r>
              <a:rPr lang="en-US" sz="4000" b="1" dirty="0">
                <a:solidFill>
                  <a:srgbClr val="F5A800"/>
                </a:solidFill>
                <a:latin typeface="Georgia" pitchFamily="34" charset="0"/>
                <a:ea typeface="Georgia" pitchFamily="34" charset="-122"/>
                <a:cs typeface="Georgia" pitchFamily="34" charset="-120"/>
              </a:rPr>
              <a:t>1 hour</a:t>
            </a:r>
            <a:endParaRPr lang="en-US" sz="4000" dirty="0"/>
          </a:p>
        </p:txBody>
      </p:sp>
      <p:sp>
        <p:nvSpPr>
          <p:cNvPr id="20" name="Text 18"/>
          <p:cNvSpPr/>
          <p:nvPr/>
        </p:nvSpPr>
        <p:spPr>
          <a:xfrm>
            <a:off x="6537960" y="4800600"/>
            <a:ext cx="5029200" cy="594360"/>
          </a:xfrm>
          <a:prstGeom prst="rect">
            <a:avLst/>
          </a:prstGeom>
          <a:noFill/>
          <a:ln/>
        </p:spPr>
        <p:txBody>
          <a:bodyPr wrap="square" rtlCol="0" anchor="ctr"/>
          <a:lstStyle/>
          <a:p>
            <a:pPr indent="0" marL="0">
              <a:buNone/>
            </a:pPr>
            <a:r>
              <a:rPr lang="en-US" sz="1300" dirty="0">
                <a:solidFill>
                  <a:srgbClr val="9CA3AF"/>
                </a:solidFill>
                <a:latin typeface="Arial" pitchFamily="34" charset="0"/>
                <a:ea typeface="Arial" pitchFamily="34" charset="-122"/>
                <a:cs typeface="Arial" pitchFamily="34" charset="-120"/>
              </a:rPr>
              <a:t>Average time a power user spends in spreadsheets after each Quicken export</a:t>
            </a:r>
            <a:endParaRPr lang="en-US" sz="1300" dirty="0"/>
          </a:p>
        </p:txBody>
      </p:sp>
      <p:sp>
        <p:nvSpPr>
          <p:cNvPr id="21" name="Text 19"/>
          <p:cNvSpPr/>
          <p:nvPr/>
        </p:nvSpPr>
        <p:spPr>
          <a:xfrm>
            <a:off x="457200" y="6309360"/>
            <a:ext cx="11247120" cy="365760"/>
          </a:xfrm>
          <a:prstGeom prst="rect">
            <a:avLst/>
          </a:prstGeom>
          <a:noFill/>
          <a:ln/>
        </p:spPr>
        <p:txBody>
          <a:bodyPr wrap="square" rtlCol="0" anchor="ctr"/>
          <a:lstStyle/>
          <a:p>
            <a:pPr indent="0" marL="0">
              <a:buNone/>
            </a:pPr>
            <a:r>
              <a:rPr lang="en-US" sz="1300" i="1" dirty="0">
                <a:solidFill>
                  <a:srgbClr val="6B7280"/>
                </a:solidFill>
                <a:latin typeface="Arial" pitchFamily="34" charset="0"/>
                <a:ea typeface="Arial" pitchFamily="34" charset="-122"/>
                <a:cs typeface="Arial" pitchFamily="34" charset="-120"/>
              </a:rPr>
              <a:t>Quicken exports complete, structured financial data. The gap is what happens next.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274320"/>
            <a:ext cx="5486400" cy="256032"/>
          </a:xfrm>
          <a:prstGeom prst="rect">
            <a:avLst/>
          </a:prstGeom>
          <a:noFill/>
          <a:ln/>
        </p:spPr>
        <p:txBody>
          <a:bodyPr wrap="square" rtlCol="0" anchor="ctr"/>
          <a:lstStyle/>
          <a:p>
            <a:pPr algn="l" indent="0" marL="0">
              <a:buNone/>
            </a:pPr>
            <a:r>
              <a:rPr lang="en-US" sz="900" spc="300" kern="0" dirty="0">
                <a:solidFill>
                  <a:srgbClr val="F5A800"/>
                </a:solidFill>
                <a:latin typeface="Courier New" pitchFamily="34" charset="0"/>
                <a:ea typeface="Courier New" pitchFamily="34" charset="-122"/>
                <a:cs typeface="Courier New" pitchFamily="34" charset="-120"/>
              </a:rPr>
              <a:t>THE PRODUCT</a:t>
            </a:r>
            <a:endParaRPr lang="en-US" sz="900" dirty="0"/>
          </a:p>
        </p:txBody>
      </p:sp>
      <p:sp>
        <p:nvSpPr>
          <p:cNvPr id="3" name="Text 1"/>
          <p:cNvSpPr/>
          <p:nvPr/>
        </p:nvSpPr>
        <p:spPr>
          <a:xfrm>
            <a:off x="457200" y="411480"/>
            <a:ext cx="11247120" cy="1645920"/>
          </a:xfrm>
          <a:prstGeom prst="rect">
            <a:avLst/>
          </a:prstGeom>
          <a:noFill/>
          <a:ln/>
        </p:spPr>
        <p:txBody>
          <a:bodyPr wrap="square" rtlCol="0" anchor="t"/>
          <a:lstStyle/>
          <a:p>
            <a:pPr algn="l" indent="0" marL="0">
              <a:buNone/>
            </a:pPr>
            <a:r>
              <a:rPr lang="en-US" sz="3000" b="1" dirty="0">
                <a:solidFill>
                  <a:srgbClr val="F2EFE9"/>
                </a:solidFill>
                <a:latin typeface="Georgia" pitchFamily="34" charset="0"/>
                <a:ea typeface="Georgia" pitchFamily="34" charset="-122"/>
                <a:cs typeface="Georgia" pitchFamily="34" charset="-120"/>
              </a:rPr>
              <a:t>Forge: family financial intelligence</a:t>
            </a:r>
            <a:endParaRPr lang="en-US" sz="3000" dirty="0"/>
          </a:p>
          <a:p>
            <a:pPr algn="l" indent="0" marL="0">
              <a:buNone/>
            </a:pPr>
            <a:r>
              <a:rPr lang="en-US" sz="3000" b="1" dirty="0">
                <a:solidFill>
                  <a:srgbClr val="F2EFE9"/>
                </a:solidFill>
                <a:latin typeface="Georgia" pitchFamily="34" charset="0"/>
                <a:ea typeface="Georgia" pitchFamily="34" charset="-122"/>
                <a:cs typeface="Georgia" pitchFamily="34" charset="-120"/>
              </a:rPr>
              <a:t>built on Quicken exports.</a:t>
            </a:r>
            <a:endParaRPr lang="en-US" sz="3000" dirty="0"/>
          </a:p>
        </p:txBody>
      </p:sp>
      <p:sp>
        <p:nvSpPr>
          <p:cNvPr id="4" name="Shape 2"/>
          <p:cNvSpPr/>
          <p:nvPr/>
        </p:nvSpPr>
        <p:spPr>
          <a:xfrm>
            <a:off x="457200" y="1965960"/>
            <a:ext cx="11247120" cy="0"/>
          </a:xfrm>
          <a:prstGeom prst="line">
            <a:avLst/>
          </a:prstGeom>
          <a:noFill/>
          <a:ln w="19050">
            <a:solidFill>
              <a:srgbClr val="F5A800"/>
            </a:solidFill>
            <a:prstDash val="solid"/>
          </a:ln>
        </p:spPr>
      </p:sp>
      <p:sp>
        <p:nvSpPr>
          <p:cNvPr id="5" name="Text 3"/>
          <p:cNvSpPr/>
          <p:nvPr/>
        </p:nvSpPr>
        <p:spPr>
          <a:xfrm>
            <a:off x="457200" y="2103120"/>
            <a:ext cx="11247120" cy="822960"/>
          </a:xfrm>
          <a:prstGeom prst="rect">
            <a:avLst/>
          </a:prstGeom>
          <a:noFill/>
          <a:ln/>
        </p:spPr>
        <p:txBody>
          <a:bodyPr wrap="square" rtlCol="0" anchor="ctr"/>
          <a:lstStyle/>
          <a:p>
            <a:pPr indent="0" marL="0">
              <a:buNone/>
            </a:pPr>
            <a:r>
              <a:rPr lang="en-US" sz="1400" dirty="0">
                <a:solidFill>
                  <a:srgbClr val="9CA3AF"/>
                </a:solidFill>
                <a:latin typeface="Arial" pitchFamily="34" charset="0"/>
                <a:ea typeface="Arial" pitchFamily="34" charset="-122"/>
                <a:cs typeface="Arial" pitchFamily="34" charset="-120"/>
              </a:rPr>
              <a:t>Forge reads Quicken QIF/CSV/QFX exports and transforms them into a complete family finance platform — income statement with line-item drilldown, balance sheet with historical comparison, cash flow waterfall, AI-powered alerts, and per-person spending attribution.</a:t>
            </a:r>
            <a:endParaRPr lang="en-US" sz="1400" dirty="0"/>
          </a:p>
        </p:txBody>
      </p:sp>
      <p:sp>
        <p:nvSpPr>
          <p:cNvPr id="6" name="Shape 4"/>
          <p:cNvSpPr/>
          <p:nvPr/>
        </p:nvSpPr>
        <p:spPr>
          <a:xfrm>
            <a:off x="457200" y="3063240"/>
            <a:ext cx="5486400" cy="1051560"/>
          </a:xfrm>
          <a:prstGeom prst="rect">
            <a:avLst/>
          </a:prstGeom>
          <a:solidFill>
            <a:srgbClr val="1C1C1C"/>
          </a:solidFill>
          <a:ln w="6350">
            <a:solidFill>
              <a:srgbClr val="2A2A2A"/>
            </a:solidFill>
            <a:prstDash val="solid"/>
          </a:ln>
        </p:spPr>
      </p:sp>
      <p:sp>
        <p:nvSpPr>
          <p:cNvPr id="7" name="Text 5"/>
          <p:cNvSpPr/>
          <p:nvPr/>
        </p:nvSpPr>
        <p:spPr>
          <a:xfrm>
            <a:off x="548640" y="3154680"/>
            <a:ext cx="457200" cy="8229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1051560" y="3154680"/>
            <a:ext cx="4754880" cy="274320"/>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Income Statement</a:t>
            </a:r>
            <a:endParaRPr lang="en-US" sz="1300" dirty="0"/>
          </a:p>
        </p:txBody>
      </p:sp>
      <p:sp>
        <p:nvSpPr>
          <p:cNvPr id="9" name="Text 7"/>
          <p:cNvSpPr/>
          <p:nvPr/>
        </p:nvSpPr>
        <p:spPr>
          <a:xfrm>
            <a:off x="1051560" y="3410712"/>
            <a:ext cx="4754880" cy="5943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Waterfall P&amp;L from income through every spending category to net. 3-level drilldown to individual transactions with item detail.</a:t>
            </a:r>
            <a:endParaRPr lang="en-US" sz="1100" dirty="0"/>
          </a:p>
        </p:txBody>
      </p:sp>
      <p:sp>
        <p:nvSpPr>
          <p:cNvPr id="10" name="Shape 8"/>
          <p:cNvSpPr/>
          <p:nvPr/>
        </p:nvSpPr>
        <p:spPr>
          <a:xfrm>
            <a:off x="6309360" y="3063240"/>
            <a:ext cx="5486400" cy="1051560"/>
          </a:xfrm>
          <a:prstGeom prst="rect">
            <a:avLst/>
          </a:prstGeom>
          <a:solidFill>
            <a:srgbClr val="1C1C1C"/>
          </a:solidFill>
          <a:ln w="6350">
            <a:solidFill>
              <a:srgbClr val="2A2A2A"/>
            </a:solidFill>
            <a:prstDash val="solid"/>
          </a:ln>
        </p:spPr>
      </p:sp>
      <p:sp>
        <p:nvSpPr>
          <p:cNvPr id="11" name="Text 9"/>
          <p:cNvSpPr/>
          <p:nvPr/>
        </p:nvSpPr>
        <p:spPr>
          <a:xfrm>
            <a:off x="6400800" y="3154680"/>
            <a:ext cx="457200" cy="8229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6903720" y="3154680"/>
            <a:ext cx="4754880" cy="274320"/>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Balance Sheet</a:t>
            </a:r>
            <a:endParaRPr lang="en-US" sz="1300" dirty="0"/>
          </a:p>
        </p:txBody>
      </p:sp>
      <p:sp>
        <p:nvSpPr>
          <p:cNvPr id="13" name="Text 11"/>
          <p:cNvSpPr/>
          <p:nvPr/>
        </p:nvSpPr>
        <p:spPr>
          <a:xfrm>
            <a:off x="6903720" y="3410712"/>
            <a:ext cx="4754880" cy="5943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Net worth snapshots with historical comparison. Pulls investment market values from Quicken's Investment Performance report.</a:t>
            </a:r>
            <a:endParaRPr lang="en-US" sz="1100" dirty="0"/>
          </a:p>
        </p:txBody>
      </p:sp>
      <p:sp>
        <p:nvSpPr>
          <p:cNvPr id="14" name="Shape 12"/>
          <p:cNvSpPr/>
          <p:nvPr/>
        </p:nvSpPr>
        <p:spPr>
          <a:xfrm>
            <a:off x="457200" y="4251960"/>
            <a:ext cx="5486400" cy="1051560"/>
          </a:xfrm>
          <a:prstGeom prst="rect">
            <a:avLst/>
          </a:prstGeom>
          <a:solidFill>
            <a:srgbClr val="1C1C1C"/>
          </a:solidFill>
          <a:ln w="6350">
            <a:solidFill>
              <a:srgbClr val="2A2A2A"/>
            </a:solidFill>
            <a:prstDash val="solid"/>
          </a:ln>
        </p:spPr>
      </p:sp>
      <p:sp>
        <p:nvSpPr>
          <p:cNvPr id="15" name="Text 13"/>
          <p:cNvSpPr/>
          <p:nvPr/>
        </p:nvSpPr>
        <p:spPr>
          <a:xfrm>
            <a:off x="548640" y="4343400"/>
            <a:ext cx="457200" cy="8229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1051560" y="4343400"/>
            <a:ext cx="4754880" cy="274320"/>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Cash Flow Waterfall</a:t>
            </a:r>
            <a:endParaRPr lang="en-US" sz="1300" dirty="0"/>
          </a:p>
        </p:txBody>
      </p:sp>
      <p:sp>
        <p:nvSpPr>
          <p:cNvPr id="17" name="Text 15"/>
          <p:cNvSpPr/>
          <p:nvPr/>
        </p:nvSpPr>
        <p:spPr>
          <a:xfrm>
            <a:off x="1051560" y="4599432"/>
            <a:ext cx="4754880" cy="5943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Cumulative chart showing how income flows through Savings → Fixed → Utilities → Necessities → Discretionary → Net with live tooltips.</a:t>
            </a:r>
            <a:endParaRPr lang="en-US" sz="1100" dirty="0"/>
          </a:p>
        </p:txBody>
      </p:sp>
      <p:sp>
        <p:nvSpPr>
          <p:cNvPr id="18" name="Shape 16"/>
          <p:cNvSpPr/>
          <p:nvPr/>
        </p:nvSpPr>
        <p:spPr>
          <a:xfrm>
            <a:off x="6309360" y="4251960"/>
            <a:ext cx="5486400" cy="1051560"/>
          </a:xfrm>
          <a:prstGeom prst="rect">
            <a:avLst/>
          </a:prstGeom>
          <a:solidFill>
            <a:srgbClr val="1C1C1C"/>
          </a:solidFill>
          <a:ln w="6350">
            <a:solidFill>
              <a:srgbClr val="2A2A2A"/>
            </a:solidFill>
            <a:prstDash val="solid"/>
          </a:ln>
        </p:spPr>
      </p:sp>
      <p:sp>
        <p:nvSpPr>
          <p:cNvPr id="19" name="Text 17"/>
          <p:cNvSpPr/>
          <p:nvPr/>
        </p:nvSpPr>
        <p:spPr>
          <a:xfrm>
            <a:off x="6400800" y="4343400"/>
            <a:ext cx="457200" cy="8229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6903720" y="4343400"/>
            <a:ext cx="4754880" cy="274320"/>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Merchant Unmask</a:t>
            </a:r>
            <a:endParaRPr lang="en-US" sz="1300" dirty="0"/>
          </a:p>
        </p:txBody>
      </p:sp>
      <p:sp>
        <p:nvSpPr>
          <p:cNvPr id="21" name="Text 19"/>
          <p:cNvSpPr/>
          <p:nvPr/>
        </p:nvSpPr>
        <p:spPr>
          <a:xfrm>
            <a:off x="6903720" y="4599432"/>
            <a:ext cx="4754880" cy="5943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Surfaces real recipients behind lump-sum charges. Amazon order items, Apple Card descriptions, Venmo notes — all attached to the originating transaction.</a:t>
            </a:r>
            <a:endParaRPr lang="en-US" sz="1100" dirty="0"/>
          </a:p>
        </p:txBody>
      </p:sp>
      <p:sp>
        <p:nvSpPr>
          <p:cNvPr id="22" name="Shape 20"/>
          <p:cNvSpPr/>
          <p:nvPr/>
        </p:nvSpPr>
        <p:spPr>
          <a:xfrm>
            <a:off x="457200" y="5440680"/>
            <a:ext cx="5486400" cy="1051560"/>
          </a:xfrm>
          <a:prstGeom prst="rect">
            <a:avLst/>
          </a:prstGeom>
          <a:solidFill>
            <a:srgbClr val="1C1C1C"/>
          </a:solidFill>
          <a:ln w="6350">
            <a:solidFill>
              <a:srgbClr val="2A2A2A"/>
            </a:solidFill>
            <a:prstDash val="solid"/>
          </a:ln>
        </p:spPr>
      </p:sp>
      <p:sp>
        <p:nvSpPr>
          <p:cNvPr id="23" name="Text 21"/>
          <p:cNvSpPr/>
          <p:nvPr/>
        </p:nvSpPr>
        <p:spPr>
          <a:xfrm>
            <a:off x="548640" y="5532120"/>
            <a:ext cx="457200" cy="8229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4" name="Text 22"/>
          <p:cNvSpPr/>
          <p:nvPr/>
        </p:nvSpPr>
        <p:spPr>
          <a:xfrm>
            <a:off x="1051560" y="5532120"/>
            <a:ext cx="4754880" cy="274320"/>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Purchaser Attribution</a:t>
            </a:r>
            <a:endParaRPr lang="en-US" sz="1300" dirty="0"/>
          </a:p>
        </p:txBody>
      </p:sp>
      <p:sp>
        <p:nvSpPr>
          <p:cNvPr id="25" name="Text 23"/>
          <p:cNvSpPr/>
          <p:nvPr/>
        </p:nvSpPr>
        <p:spPr>
          <a:xfrm>
            <a:off x="1051560" y="5788152"/>
            <a:ext cx="4754880" cy="5943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Every transaction attributed to a family member. Per-person alerts, impulse rate, and projected monthly spend.</a:t>
            </a:r>
            <a:endParaRPr lang="en-US" sz="1100" dirty="0"/>
          </a:p>
        </p:txBody>
      </p:sp>
      <p:sp>
        <p:nvSpPr>
          <p:cNvPr id="26" name="Shape 24"/>
          <p:cNvSpPr/>
          <p:nvPr/>
        </p:nvSpPr>
        <p:spPr>
          <a:xfrm>
            <a:off x="6309360" y="5440680"/>
            <a:ext cx="5486400" cy="1051560"/>
          </a:xfrm>
          <a:prstGeom prst="rect">
            <a:avLst/>
          </a:prstGeom>
          <a:solidFill>
            <a:srgbClr val="1C1C1C"/>
          </a:solidFill>
          <a:ln w="6350">
            <a:solidFill>
              <a:srgbClr val="2A2A2A"/>
            </a:solidFill>
            <a:prstDash val="solid"/>
          </a:ln>
        </p:spPr>
      </p:sp>
      <p:sp>
        <p:nvSpPr>
          <p:cNvPr id="27" name="Text 25"/>
          <p:cNvSpPr/>
          <p:nvPr/>
        </p:nvSpPr>
        <p:spPr>
          <a:xfrm>
            <a:off x="6400800" y="5532120"/>
            <a:ext cx="457200" cy="82296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8" name="Text 26"/>
          <p:cNvSpPr/>
          <p:nvPr/>
        </p:nvSpPr>
        <p:spPr>
          <a:xfrm>
            <a:off x="6903720" y="5532120"/>
            <a:ext cx="4754880" cy="274320"/>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AI Intelligence</a:t>
            </a:r>
            <a:endParaRPr lang="en-US" sz="1300" dirty="0"/>
          </a:p>
        </p:txBody>
      </p:sp>
      <p:sp>
        <p:nvSpPr>
          <p:cNvPr id="29" name="Text 27"/>
          <p:cNvSpPr/>
          <p:nvPr/>
        </p:nvSpPr>
        <p:spPr>
          <a:xfrm>
            <a:off x="6903720" y="5788152"/>
            <a:ext cx="4754880" cy="5943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Smart Scan reads photos and PDFs. Ask $id answers any financial question with full household context.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274320"/>
            <a:ext cx="5486400" cy="256032"/>
          </a:xfrm>
          <a:prstGeom prst="rect">
            <a:avLst/>
          </a:prstGeom>
          <a:noFill/>
          <a:ln/>
        </p:spPr>
        <p:txBody>
          <a:bodyPr wrap="square" rtlCol="0" anchor="ctr"/>
          <a:lstStyle/>
          <a:p>
            <a:pPr algn="l" indent="0" marL="0">
              <a:buNone/>
            </a:pPr>
            <a:r>
              <a:rPr lang="en-US" sz="900" spc="300" kern="0" dirty="0">
                <a:solidFill>
                  <a:srgbClr val="F5A800"/>
                </a:solidFill>
                <a:latin typeface="Courier New" pitchFamily="34" charset="0"/>
                <a:ea typeface="Courier New" pitchFamily="34" charset="-122"/>
                <a:cs typeface="Courier New" pitchFamily="34" charset="-120"/>
              </a:rPr>
              <a:t>SIGNATURE FEATURE</a:t>
            </a:r>
            <a:endParaRPr lang="en-US" sz="900" dirty="0"/>
          </a:p>
        </p:txBody>
      </p:sp>
      <p:sp>
        <p:nvSpPr>
          <p:cNvPr id="3" name="Text 1"/>
          <p:cNvSpPr/>
          <p:nvPr/>
        </p:nvSpPr>
        <p:spPr>
          <a:xfrm>
            <a:off x="457200" y="411480"/>
            <a:ext cx="11247120" cy="1097280"/>
          </a:xfrm>
          <a:prstGeom prst="rect">
            <a:avLst/>
          </a:prstGeom>
          <a:noFill/>
          <a:ln/>
        </p:spPr>
        <p:txBody>
          <a:bodyPr wrap="square" rtlCol="0" anchor="t"/>
          <a:lstStyle/>
          <a:p>
            <a:pPr algn="l" indent="0" marL="0">
              <a:buNone/>
            </a:pPr>
            <a:r>
              <a:rPr lang="en-US" sz="3600" b="1" dirty="0">
                <a:solidFill>
                  <a:srgbClr val="F2EFE9"/>
                </a:solidFill>
                <a:latin typeface="Georgia" pitchFamily="34" charset="0"/>
                <a:ea typeface="Georgia" pitchFamily="34" charset="-122"/>
                <a:cs typeface="Georgia" pitchFamily="34" charset="-120"/>
              </a:rPr>
              <a:t>The Cash Flow Waterfall</a:t>
            </a:r>
            <a:endParaRPr lang="en-US" sz="3600" dirty="0"/>
          </a:p>
        </p:txBody>
      </p:sp>
      <p:sp>
        <p:nvSpPr>
          <p:cNvPr id="4" name="Shape 2"/>
          <p:cNvSpPr/>
          <p:nvPr/>
        </p:nvSpPr>
        <p:spPr>
          <a:xfrm>
            <a:off x="457200" y="960120"/>
            <a:ext cx="11247120" cy="0"/>
          </a:xfrm>
          <a:prstGeom prst="line">
            <a:avLst/>
          </a:prstGeom>
          <a:noFill/>
          <a:ln w="19050">
            <a:solidFill>
              <a:srgbClr val="F5A800"/>
            </a:solidFill>
            <a:prstDash val="solid"/>
          </a:ln>
        </p:spPr>
      </p:sp>
      <p:sp>
        <p:nvSpPr>
          <p:cNvPr id="5" name="Shape 3"/>
          <p:cNvSpPr/>
          <p:nvPr/>
        </p:nvSpPr>
        <p:spPr>
          <a:xfrm>
            <a:off x="457200" y="1188720"/>
            <a:ext cx="7498080" cy="4389120"/>
          </a:xfrm>
          <a:prstGeom prst="rect">
            <a:avLst/>
          </a:prstGeom>
          <a:solidFill>
            <a:srgbClr val="1C1C1C"/>
          </a:solidFill>
          <a:ln w="6350">
            <a:solidFill>
              <a:srgbClr val="2A2A2A"/>
            </a:solidFill>
            <a:prstDash val="solid"/>
          </a:ln>
        </p:spPr>
      </p:sp>
      <p:sp>
        <p:nvSpPr>
          <p:cNvPr id="6" name="Shape 4"/>
          <p:cNvSpPr/>
          <p:nvPr/>
        </p:nvSpPr>
        <p:spPr>
          <a:xfrm>
            <a:off x="457200" y="5577840"/>
            <a:ext cx="7498080" cy="0"/>
          </a:xfrm>
          <a:prstGeom prst="line">
            <a:avLst/>
          </a:prstGeom>
          <a:noFill/>
          <a:ln w="6350">
            <a:solidFill>
              <a:srgbClr val="2A2A2A"/>
            </a:solidFill>
            <a:prstDash val="solid"/>
          </a:ln>
        </p:spPr>
      </p:sp>
      <p:sp>
        <p:nvSpPr>
          <p:cNvPr id="7" name="Text 5"/>
          <p:cNvSpPr/>
          <p:nvPr/>
        </p:nvSpPr>
        <p:spPr>
          <a:xfrm>
            <a:off x="-45720" y="5468112"/>
            <a:ext cx="457200" cy="228600"/>
          </a:xfrm>
          <a:prstGeom prst="rect">
            <a:avLst/>
          </a:prstGeom>
          <a:noFill/>
          <a:ln/>
        </p:spPr>
        <p:txBody>
          <a:bodyPr wrap="square" rtlCol="0" anchor="ctr"/>
          <a:lstStyle/>
          <a:p>
            <a:pPr algn="r" indent="0" marL="0">
              <a:buNone/>
            </a:pPr>
            <a:r>
              <a:rPr lang="en-US" sz="900" dirty="0">
                <a:solidFill>
                  <a:srgbClr val="6B7280"/>
                </a:solidFill>
                <a:latin typeface="Courier New" pitchFamily="34" charset="0"/>
                <a:ea typeface="Courier New" pitchFamily="34" charset="-122"/>
                <a:cs typeface="Courier New" pitchFamily="34" charset="-120"/>
              </a:rPr>
              <a:t>$0K</a:t>
            </a:r>
            <a:endParaRPr lang="en-US" sz="900" dirty="0"/>
          </a:p>
        </p:txBody>
      </p:sp>
      <p:sp>
        <p:nvSpPr>
          <p:cNvPr id="8" name="Shape 6"/>
          <p:cNvSpPr/>
          <p:nvPr/>
        </p:nvSpPr>
        <p:spPr>
          <a:xfrm>
            <a:off x="457200" y="4114800"/>
            <a:ext cx="7498080" cy="0"/>
          </a:xfrm>
          <a:prstGeom prst="line">
            <a:avLst/>
          </a:prstGeom>
          <a:noFill/>
          <a:ln w="6350">
            <a:solidFill>
              <a:srgbClr val="2A2A2A"/>
            </a:solidFill>
            <a:prstDash val="solid"/>
          </a:ln>
        </p:spPr>
      </p:sp>
      <p:sp>
        <p:nvSpPr>
          <p:cNvPr id="9" name="Text 7"/>
          <p:cNvSpPr/>
          <p:nvPr/>
        </p:nvSpPr>
        <p:spPr>
          <a:xfrm>
            <a:off x="-45720" y="4005072"/>
            <a:ext cx="457200" cy="228600"/>
          </a:xfrm>
          <a:prstGeom prst="rect">
            <a:avLst/>
          </a:prstGeom>
          <a:noFill/>
          <a:ln/>
        </p:spPr>
        <p:txBody>
          <a:bodyPr wrap="square" rtlCol="0" anchor="ctr"/>
          <a:lstStyle/>
          <a:p>
            <a:pPr algn="r" indent="0" marL="0">
              <a:buNone/>
            </a:pPr>
            <a:r>
              <a:rPr lang="en-US" sz="900" dirty="0">
                <a:solidFill>
                  <a:srgbClr val="6B7280"/>
                </a:solidFill>
                <a:latin typeface="Courier New" pitchFamily="34" charset="0"/>
                <a:ea typeface="Courier New" pitchFamily="34" charset="-122"/>
                <a:cs typeface="Courier New" pitchFamily="34" charset="-120"/>
              </a:rPr>
              <a:t>$5K</a:t>
            </a:r>
            <a:endParaRPr lang="en-US" sz="900" dirty="0"/>
          </a:p>
        </p:txBody>
      </p:sp>
      <p:sp>
        <p:nvSpPr>
          <p:cNvPr id="10" name="Shape 8"/>
          <p:cNvSpPr/>
          <p:nvPr/>
        </p:nvSpPr>
        <p:spPr>
          <a:xfrm>
            <a:off x="457200" y="2651760"/>
            <a:ext cx="7498080" cy="0"/>
          </a:xfrm>
          <a:prstGeom prst="line">
            <a:avLst/>
          </a:prstGeom>
          <a:noFill/>
          <a:ln w="6350">
            <a:solidFill>
              <a:srgbClr val="2A2A2A"/>
            </a:solidFill>
            <a:prstDash val="solid"/>
          </a:ln>
        </p:spPr>
      </p:sp>
      <p:sp>
        <p:nvSpPr>
          <p:cNvPr id="11" name="Text 9"/>
          <p:cNvSpPr/>
          <p:nvPr/>
        </p:nvSpPr>
        <p:spPr>
          <a:xfrm>
            <a:off x="-45720" y="2542032"/>
            <a:ext cx="457200" cy="228600"/>
          </a:xfrm>
          <a:prstGeom prst="rect">
            <a:avLst/>
          </a:prstGeom>
          <a:noFill/>
          <a:ln/>
        </p:spPr>
        <p:txBody>
          <a:bodyPr wrap="square" rtlCol="0" anchor="ctr"/>
          <a:lstStyle/>
          <a:p>
            <a:pPr algn="r" indent="0" marL="0">
              <a:buNone/>
            </a:pPr>
            <a:r>
              <a:rPr lang="en-US" sz="900" dirty="0">
                <a:solidFill>
                  <a:srgbClr val="6B7280"/>
                </a:solidFill>
                <a:latin typeface="Courier New" pitchFamily="34" charset="0"/>
                <a:ea typeface="Courier New" pitchFamily="34" charset="-122"/>
                <a:cs typeface="Courier New" pitchFamily="34" charset="-120"/>
              </a:rPr>
              <a:t>$10K</a:t>
            </a:r>
            <a:endParaRPr lang="en-US" sz="900" dirty="0"/>
          </a:p>
        </p:txBody>
      </p:sp>
      <p:sp>
        <p:nvSpPr>
          <p:cNvPr id="12" name="Shape 10"/>
          <p:cNvSpPr/>
          <p:nvPr/>
        </p:nvSpPr>
        <p:spPr>
          <a:xfrm>
            <a:off x="457200" y="1188720"/>
            <a:ext cx="7498080" cy="0"/>
          </a:xfrm>
          <a:prstGeom prst="line">
            <a:avLst/>
          </a:prstGeom>
          <a:noFill/>
          <a:ln w="6350">
            <a:solidFill>
              <a:srgbClr val="2A2A2A"/>
            </a:solidFill>
            <a:prstDash val="solid"/>
          </a:ln>
        </p:spPr>
      </p:sp>
      <p:sp>
        <p:nvSpPr>
          <p:cNvPr id="13" name="Text 11"/>
          <p:cNvSpPr/>
          <p:nvPr/>
        </p:nvSpPr>
        <p:spPr>
          <a:xfrm>
            <a:off x="-45720" y="1078992"/>
            <a:ext cx="457200" cy="228600"/>
          </a:xfrm>
          <a:prstGeom prst="rect">
            <a:avLst/>
          </a:prstGeom>
          <a:noFill/>
          <a:ln/>
        </p:spPr>
        <p:txBody>
          <a:bodyPr wrap="square" rtlCol="0" anchor="ctr"/>
          <a:lstStyle/>
          <a:p>
            <a:pPr algn="r" indent="0" marL="0">
              <a:buNone/>
            </a:pPr>
            <a:r>
              <a:rPr lang="en-US" sz="900" dirty="0">
                <a:solidFill>
                  <a:srgbClr val="6B7280"/>
                </a:solidFill>
                <a:latin typeface="Courier New" pitchFamily="34" charset="0"/>
                <a:ea typeface="Courier New" pitchFamily="34" charset="-122"/>
                <a:cs typeface="Courier New" pitchFamily="34" charset="-120"/>
              </a:rPr>
              <a:t>$15K</a:t>
            </a:r>
            <a:endParaRPr lang="en-US" sz="900" dirty="0"/>
          </a:p>
        </p:txBody>
      </p:sp>
      <p:sp>
        <p:nvSpPr>
          <p:cNvPr id="14" name="Shape 12"/>
          <p:cNvSpPr/>
          <p:nvPr/>
        </p:nvSpPr>
        <p:spPr>
          <a:xfrm>
            <a:off x="594360" y="1422806"/>
            <a:ext cx="642693" cy="4155034"/>
          </a:xfrm>
          <a:prstGeom prst="rect">
            <a:avLst/>
          </a:prstGeom>
          <a:solidFill>
            <a:srgbClr val="2DD4BF"/>
          </a:solidFill>
          <a:ln w="3810">
            <a:solidFill>
              <a:srgbClr val="2DD4BF"/>
            </a:solidFill>
            <a:prstDash val="solid"/>
          </a:ln>
        </p:spPr>
      </p:sp>
      <p:sp>
        <p:nvSpPr>
          <p:cNvPr id="15" name="Text 13"/>
          <p:cNvSpPr/>
          <p:nvPr/>
        </p:nvSpPr>
        <p:spPr>
          <a:xfrm>
            <a:off x="502920" y="1221638"/>
            <a:ext cx="825573" cy="201168"/>
          </a:xfrm>
          <a:prstGeom prst="rect">
            <a:avLst/>
          </a:prstGeom>
          <a:noFill/>
          <a:ln/>
        </p:spPr>
        <p:txBody>
          <a:bodyPr wrap="square" rtlCol="0" anchor="ctr"/>
          <a:lstStyle/>
          <a:p>
            <a:pPr algn="ctr" indent="0" marL="0">
              <a:buNone/>
            </a:pPr>
            <a:r>
              <a:rPr lang="en-US" sz="900" b="1" dirty="0">
                <a:solidFill>
                  <a:srgbClr val="2DD4BF"/>
                </a:solidFill>
                <a:latin typeface="Courier New" pitchFamily="34" charset="0"/>
                <a:ea typeface="Courier New" pitchFamily="34" charset="-122"/>
                <a:cs typeface="Courier New" pitchFamily="34" charset="-120"/>
              </a:rPr>
              <a:t>+$14.2K</a:t>
            </a:r>
            <a:endParaRPr lang="en-US" sz="900" dirty="0"/>
          </a:p>
        </p:txBody>
      </p:sp>
      <p:sp>
        <p:nvSpPr>
          <p:cNvPr id="16" name="Shape 14"/>
          <p:cNvSpPr/>
          <p:nvPr/>
        </p:nvSpPr>
        <p:spPr>
          <a:xfrm>
            <a:off x="869986" y="1377086"/>
            <a:ext cx="91440" cy="91440"/>
          </a:xfrm>
          <a:prstGeom prst="ellipse">
            <a:avLst/>
          </a:prstGeom>
          <a:solidFill>
            <a:srgbClr val="F5A800"/>
          </a:solidFill>
          <a:ln/>
        </p:spPr>
      </p:sp>
      <p:sp>
        <p:nvSpPr>
          <p:cNvPr id="17" name="Shape 15"/>
          <p:cNvSpPr/>
          <p:nvPr/>
        </p:nvSpPr>
        <p:spPr>
          <a:xfrm>
            <a:off x="1237053" y="1422806"/>
            <a:ext cx="428462" cy="0"/>
          </a:xfrm>
          <a:prstGeom prst="line">
            <a:avLst/>
          </a:prstGeom>
          <a:noFill/>
          <a:ln w="6350">
            <a:solidFill>
              <a:srgbClr val="6B7280"/>
            </a:solidFill>
            <a:prstDash val="dash"/>
          </a:ln>
        </p:spPr>
      </p:sp>
      <p:sp>
        <p:nvSpPr>
          <p:cNvPr id="18" name="Text 16"/>
          <p:cNvSpPr/>
          <p:nvPr/>
        </p:nvSpPr>
        <p:spPr>
          <a:xfrm>
            <a:off x="502920" y="5650992"/>
            <a:ext cx="825573" cy="22860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Income</a:t>
            </a:r>
            <a:endParaRPr lang="en-US" sz="1000" dirty="0"/>
          </a:p>
        </p:txBody>
      </p:sp>
      <p:sp>
        <p:nvSpPr>
          <p:cNvPr id="19" name="Shape 17"/>
          <p:cNvSpPr/>
          <p:nvPr/>
        </p:nvSpPr>
        <p:spPr>
          <a:xfrm>
            <a:off x="1665514" y="1422806"/>
            <a:ext cx="642693" cy="526694"/>
          </a:xfrm>
          <a:prstGeom prst="rect">
            <a:avLst/>
          </a:prstGeom>
          <a:solidFill>
            <a:srgbClr val="60A5FA"/>
          </a:solidFill>
          <a:ln w="3810">
            <a:solidFill>
              <a:srgbClr val="60A5FA"/>
            </a:solidFill>
            <a:prstDash val="solid"/>
          </a:ln>
        </p:spPr>
      </p:sp>
      <p:sp>
        <p:nvSpPr>
          <p:cNvPr id="20" name="Text 18"/>
          <p:cNvSpPr/>
          <p:nvPr/>
        </p:nvSpPr>
        <p:spPr>
          <a:xfrm>
            <a:off x="1574074" y="1986077"/>
            <a:ext cx="825573" cy="201168"/>
          </a:xfrm>
          <a:prstGeom prst="rect">
            <a:avLst/>
          </a:prstGeom>
          <a:noFill/>
          <a:ln/>
        </p:spPr>
        <p:txBody>
          <a:bodyPr wrap="square" rtlCol="0" anchor="ctr"/>
          <a:lstStyle/>
          <a:p>
            <a:pPr algn="ctr" indent="0" marL="0">
              <a:buNone/>
            </a:pPr>
            <a:r>
              <a:rPr lang="en-US" sz="900" b="1" dirty="0">
                <a:solidFill>
                  <a:srgbClr val="60A5FA"/>
                </a:solidFill>
                <a:latin typeface="Courier New" pitchFamily="34" charset="0"/>
                <a:ea typeface="Courier New" pitchFamily="34" charset="-122"/>
                <a:cs typeface="Courier New" pitchFamily="34" charset="-120"/>
              </a:rPr>
              <a:t>$1.8K</a:t>
            </a:r>
            <a:endParaRPr lang="en-US" sz="900" dirty="0"/>
          </a:p>
        </p:txBody>
      </p:sp>
      <p:sp>
        <p:nvSpPr>
          <p:cNvPr id="21" name="Shape 19"/>
          <p:cNvSpPr/>
          <p:nvPr/>
        </p:nvSpPr>
        <p:spPr>
          <a:xfrm>
            <a:off x="1941141" y="1903781"/>
            <a:ext cx="91440" cy="91440"/>
          </a:xfrm>
          <a:prstGeom prst="ellipse">
            <a:avLst/>
          </a:prstGeom>
          <a:solidFill>
            <a:srgbClr val="F5A800"/>
          </a:solidFill>
          <a:ln/>
        </p:spPr>
      </p:sp>
      <p:sp>
        <p:nvSpPr>
          <p:cNvPr id="22" name="Shape 20"/>
          <p:cNvSpPr/>
          <p:nvPr/>
        </p:nvSpPr>
        <p:spPr>
          <a:xfrm>
            <a:off x="2308207" y="1949501"/>
            <a:ext cx="428462" cy="0"/>
          </a:xfrm>
          <a:prstGeom prst="line">
            <a:avLst/>
          </a:prstGeom>
          <a:noFill/>
          <a:ln w="6350">
            <a:solidFill>
              <a:srgbClr val="6B7280"/>
            </a:solidFill>
            <a:prstDash val="dash"/>
          </a:ln>
        </p:spPr>
      </p:sp>
      <p:sp>
        <p:nvSpPr>
          <p:cNvPr id="23" name="Text 21"/>
          <p:cNvSpPr/>
          <p:nvPr/>
        </p:nvSpPr>
        <p:spPr>
          <a:xfrm>
            <a:off x="1574074" y="5650992"/>
            <a:ext cx="825573" cy="22860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Savings</a:t>
            </a:r>
            <a:endParaRPr lang="en-US" sz="1000" dirty="0"/>
          </a:p>
        </p:txBody>
      </p:sp>
      <p:sp>
        <p:nvSpPr>
          <p:cNvPr id="24" name="Shape 22"/>
          <p:cNvSpPr/>
          <p:nvPr/>
        </p:nvSpPr>
        <p:spPr>
          <a:xfrm>
            <a:off x="2736669" y="1949501"/>
            <a:ext cx="642693" cy="936346"/>
          </a:xfrm>
          <a:prstGeom prst="rect">
            <a:avLst/>
          </a:prstGeom>
          <a:solidFill>
            <a:srgbClr val="60A5FA"/>
          </a:solidFill>
          <a:ln w="3810">
            <a:solidFill>
              <a:srgbClr val="60A5FA"/>
            </a:solidFill>
            <a:prstDash val="solid"/>
          </a:ln>
        </p:spPr>
      </p:sp>
      <p:sp>
        <p:nvSpPr>
          <p:cNvPr id="25" name="Text 23"/>
          <p:cNvSpPr/>
          <p:nvPr/>
        </p:nvSpPr>
        <p:spPr>
          <a:xfrm>
            <a:off x="2645229" y="2922422"/>
            <a:ext cx="825573" cy="201168"/>
          </a:xfrm>
          <a:prstGeom prst="rect">
            <a:avLst/>
          </a:prstGeom>
          <a:noFill/>
          <a:ln/>
        </p:spPr>
        <p:txBody>
          <a:bodyPr wrap="square" rtlCol="0" anchor="ctr"/>
          <a:lstStyle/>
          <a:p>
            <a:pPr algn="ctr" indent="0" marL="0">
              <a:buNone/>
            </a:pPr>
            <a:r>
              <a:rPr lang="en-US" sz="900" b="1" dirty="0">
                <a:solidFill>
                  <a:srgbClr val="60A5FA"/>
                </a:solidFill>
                <a:latin typeface="Courier New" pitchFamily="34" charset="0"/>
                <a:ea typeface="Courier New" pitchFamily="34" charset="-122"/>
                <a:cs typeface="Courier New" pitchFamily="34" charset="-120"/>
              </a:rPr>
              <a:t>$3.2K</a:t>
            </a:r>
            <a:endParaRPr lang="en-US" sz="900" dirty="0"/>
          </a:p>
        </p:txBody>
      </p:sp>
      <p:sp>
        <p:nvSpPr>
          <p:cNvPr id="26" name="Shape 24"/>
          <p:cNvSpPr/>
          <p:nvPr/>
        </p:nvSpPr>
        <p:spPr>
          <a:xfrm>
            <a:off x="3012295" y="2840126"/>
            <a:ext cx="91440" cy="91440"/>
          </a:xfrm>
          <a:prstGeom prst="ellipse">
            <a:avLst/>
          </a:prstGeom>
          <a:solidFill>
            <a:srgbClr val="F5A800"/>
          </a:solidFill>
          <a:ln/>
        </p:spPr>
      </p:sp>
      <p:sp>
        <p:nvSpPr>
          <p:cNvPr id="27" name="Shape 25"/>
          <p:cNvSpPr/>
          <p:nvPr/>
        </p:nvSpPr>
        <p:spPr>
          <a:xfrm>
            <a:off x="3379361" y="2885846"/>
            <a:ext cx="428462" cy="0"/>
          </a:xfrm>
          <a:prstGeom prst="line">
            <a:avLst/>
          </a:prstGeom>
          <a:noFill/>
          <a:ln w="6350">
            <a:solidFill>
              <a:srgbClr val="6B7280"/>
            </a:solidFill>
            <a:prstDash val="dash"/>
          </a:ln>
        </p:spPr>
      </p:sp>
      <p:sp>
        <p:nvSpPr>
          <p:cNvPr id="28" name="Text 26"/>
          <p:cNvSpPr/>
          <p:nvPr/>
        </p:nvSpPr>
        <p:spPr>
          <a:xfrm>
            <a:off x="2645229" y="5650992"/>
            <a:ext cx="825573" cy="22860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Fixed</a:t>
            </a:r>
            <a:endParaRPr lang="en-US" sz="1000" dirty="0"/>
          </a:p>
        </p:txBody>
      </p:sp>
      <p:sp>
        <p:nvSpPr>
          <p:cNvPr id="29" name="Shape 27"/>
          <p:cNvSpPr/>
          <p:nvPr/>
        </p:nvSpPr>
        <p:spPr>
          <a:xfrm>
            <a:off x="3807823" y="2885846"/>
            <a:ext cx="642693" cy="198973"/>
          </a:xfrm>
          <a:prstGeom prst="rect">
            <a:avLst/>
          </a:prstGeom>
          <a:solidFill>
            <a:srgbClr val="60A5FA"/>
          </a:solidFill>
          <a:ln w="3810">
            <a:solidFill>
              <a:srgbClr val="60A5FA"/>
            </a:solidFill>
            <a:prstDash val="solid"/>
          </a:ln>
        </p:spPr>
      </p:sp>
      <p:sp>
        <p:nvSpPr>
          <p:cNvPr id="30" name="Text 28"/>
          <p:cNvSpPr/>
          <p:nvPr/>
        </p:nvSpPr>
        <p:spPr>
          <a:xfrm>
            <a:off x="3716383" y="3121396"/>
            <a:ext cx="825573" cy="201168"/>
          </a:xfrm>
          <a:prstGeom prst="rect">
            <a:avLst/>
          </a:prstGeom>
          <a:noFill/>
          <a:ln/>
        </p:spPr>
        <p:txBody>
          <a:bodyPr wrap="square" rtlCol="0" anchor="ctr"/>
          <a:lstStyle/>
          <a:p>
            <a:pPr algn="ctr" indent="0" marL="0">
              <a:buNone/>
            </a:pPr>
            <a:r>
              <a:rPr lang="en-US" sz="900" b="1" dirty="0">
                <a:solidFill>
                  <a:srgbClr val="60A5FA"/>
                </a:solidFill>
                <a:latin typeface="Courier New" pitchFamily="34" charset="0"/>
                <a:ea typeface="Courier New" pitchFamily="34" charset="-122"/>
                <a:cs typeface="Courier New" pitchFamily="34" charset="-120"/>
              </a:rPr>
              <a:t>$0.7K</a:t>
            </a:r>
            <a:endParaRPr lang="en-US" sz="900" dirty="0"/>
          </a:p>
        </p:txBody>
      </p:sp>
      <p:sp>
        <p:nvSpPr>
          <p:cNvPr id="31" name="Shape 29"/>
          <p:cNvSpPr/>
          <p:nvPr/>
        </p:nvSpPr>
        <p:spPr>
          <a:xfrm>
            <a:off x="4083449" y="3039100"/>
            <a:ext cx="91440" cy="91440"/>
          </a:xfrm>
          <a:prstGeom prst="ellipse">
            <a:avLst/>
          </a:prstGeom>
          <a:solidFill>
            <a:srgbClr val="F5A800"/>
          </a:solidFill>
          <a:ln/>
        </p:spPr>
      </p:sp>
      <p:sp>
        <p:nvSpPr>
          <p:cNvPr id="32" name="Shape 30"/>
          <p:cNvSpPr/>
          <p:nvPr/>
        </p:nvSpPr>
        <p:spPr>
          <a:xfrm>
            <a:off x="4450515" y="3084820"/>
            <a:ext cx="428462" cy="0"/>
          </a:xfrm>
          <a:prstGeom prst="line">
            <a:avLst/>
          </a:prstGeom>
          <a:noFill/>
          <a:ln w="6350">
            <a:solidFill>
              <a:srgbClr val="6B7280"/>
            </a:solidFill>
            <a:prstDash val="dash"/>
          </a:ln>
        </p:spPr>
      </p:sp>
      <p:sp>
        <p:nvSpPr>
          <p:cNvPr id="33" name="Text 31"/>
          <p:cNvSpPr/>
          <p:nvPr/>
        </p:nvSpPr>
        <p:spPr>
          <a:xfrm>
            <a:off x="3716383" y="5650992"/>
            <a:ext cx="825573" cy="22860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Utilities</a:t>
            </a:r>
            <a:endParaRPr lang="en-US" sz="1000" dirty="0"/>
          </a:p>
        </p:txBody>
      </p:sp>
      <p:sp>
        <p:nvSpPr>
          <p:cNvPr id="34" name="Shape 32"/>
          <p:cNvSpPr/>
          <p:nvPr/>
        </p:nvSpPr>
        <p:spPr>
          <a:xfrm>
            <a:off x="4878977" y="3084820"/>
            <a:ext cx="642693" cy="570586"/>
          </a:xfrm>
          <a:prstGeom prst="rect">
            <a:avLst/>
          </a:prstGeom>
          <a:solidFill>
            <a:srgbClr val="9F7AEA"/>
          </a:solidFill>
          <a:ln w="3810">
            <a:solidFill>
              <a:srgbClr val="9F7AEA"/>
            </a:solidFill>
            <a:prstDash val="solid"/>
          </a:ln>
        </p:spPr>
      </p:sp>
      <p:sp>
        <p:nvSpPr>
          <p:cNvPr id="35" name="Text 33"/>
          <p:cNvSpPr/>
          <p:nvPr/>
        </p:nvSpPr>
        <p:spPr>
          <a:xfrm>
            <a:off x="4787537" y="3691981"/>
            <a:ext cx="825573" cy="201168"/>
          </a:xfrm>
          <a:prstGeom prst="rect">
            <a:avLst/>
          </a:prstGeom>
          <a:noFill/>
          <a:ln/>
        </p:spPr>
        <p:txBody>
          <a:bodyPr wrap="square" rtlCol="0" anchor="ctr"/>
          <a:lstStyle/>
          <a:p>
            <a:pPr algn="ctr" indent="0" marL="0">
              <a:buNone/>
            </a:pPr>
            <a:r>
              <a:rPr lang="en-US" sz="900" b="1" dirty="0">
                <a:solidFill>
                  <a:srgbClr val="9F7AEA"/>
                </a:solidFill>
                <a:latin typeface="Courier New" pitchFamily="34" charset="0"/>
                <a:ea typeface="Courier New" pitchFamily="34" charset="-122"/>
                <a:cs typeface="Courier New" pitchFamily="34" charset="-120"/>
              </a:rPr>
              <a:t>$1.9K</a:t>
            </a:r>
            <a:endParaRPr lang="en-US" sz="900" dirty="0"/>
          </a:p>
        </p:txBody>
      </p:sp>
      <p:sp>
        <p:nvSpPr>
          <p:cNvPr id="36" name="Shape 34"/>
          <p:cNvSpPr/>
          <p:nvPr/>
        </p:nvSpPr>
        <p:spPr>
          <a:xfrm>
            <a:off x="5154603" y="3609685"/>
            <a:ext cx="91440" cy="91440"/>
          </a:xfrm>
          <a:prstGeom prst="ellipse">
            <a:avLst/>
          </a:prstGeom>
          <a:solidFill>
            <a:srgbClr val="F5A800"/>
          </a:solidFill>
          <a:ln/>
        </p:spPr>
      </p:sp>
      <p:sp>
        <p:nvSpPr>
          <p:cNvPr id="37" name="Shape 35"/>
          <p:cNvSpPr/>
          <p:nvPr/>
        </p:nvSpPr>
        <p:spPr>
          <a:xfrm>
            <a:off x="5521670" y="3655405"/>
            <a:ext cx="428462" cy="0"/>
          </a:xfrm>
          <a:prstGeom prst="line">
            <a:avLst/>
          </a:prstGeom>
          <a:noFill/>
          <a:ln w="6350">
            <a:solidFill>
              <a:srgbClr val="6B7280"/>
            </a:solidFill>
            <a:prstDash val="dash"/>
          </a:ln>
        </p:spPr>
      </p:sp>
      <p:sp>
        <p:nvSpPr>
          <p:cNvPr id="38" name="Text 36"/>
          <p:cNvSpPr/>
          <p:nvPr/>
        </p:nvSpPr>
        <p:spPr>
          <a:xfrm>
            <a:off x="4787537" y="5650992"/>
            <a:ext cx="825573" cy="22860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Necessities</a:t>
            </a:r>
            <a:endParaRPr lang="en-US" sz="1000" dirty="0"/>
          </a:p>
        </p:txBody>
      </p:sp>
      <p:sp>
        <p:nvSpPr>
          <p:cNvPr id="39" name="Shape 37"/>
          <p:cNvSpPr/>
          <p:nvPr/>
        </p:nvSpPr>
        <p:spPr>
          <a:xfrm>
            <a:off x="5950131" y="3655405"/>
            <a:ext cx="642693" cy="831007"/>
          </a:xfrm>
          <a:prstGeom prst="rect">
            <a:avLst/>
          </a:prstGeom>
          <a:solidFill>
            <a:srgbClr val="F87171"/>
          </a:solidFill>
          <a:ln w="3810">
            <a:solidFill>
              <a:srgbClr val="F87171"/>
            </a:solidFill>
            <a:prstDash val="solid"/>
          </a:ln>
        </p:spPr>
      </p:sp>
      <p:sp>
        <p:nvSpPr>
          <p:cNvPr id="40" name="Text 38"/>
          <p:cNvSpPr/>
          <p:nvPr/>
        </p:nvSpPr>
        <p:spPr>
          <a:xfrm>
            <a:off x="5858691" y="4522988"/>
            <a:ext cx="825573" cy="201168"/>
          </a:xfrm>
          <a:prstGeom prst="rect">
            <a:avLst/>
          </a:prstGeom>
          <a:noFill/>
          <a:ln/>
        </p:spPr>
        <p:txBody>
          <a:bodyPr wrap="square" rtlCol="0" anchor="ctr"/>
          <a:lstStyle/>
          <a:p>
            <a:pPr algn="ctr" indent="0" marL="0">
              <a:buNone/>
            </a:pPr>
            <a:r>
              <a:rPr lang="en-US" sz="900" b="1" dirty="0">
                <a:solidFill>
                  <a:srgbClr val="F87171"/>
                </a:solidFill>
                <a:latin typeface="Courier New" pitchFamily="34" charset="0"/>
                <a:ea typeface="Courier New" pitchFamily="34" charset="-122"/>
                <a:cs typeface="Courier New" pitchFamily="34" charset="-120"/>
              </a:rPr>
              <a:t>$2.8K</a:t>
            </a:r>
            <a:endParaRPr lang="en-US" sz="900" dirty="0"/>
          </a:p>
        </p:txBody>
      </p:sp>
      <p:sp>
        <p:nvSpPr>
          <p:cNvPr id="41" name="Shape 39"/>
          <p:cNvSpPr/>
          <p:nvPr/>
        </p:nvSpPr>
        <p:spPr>
          <a:xfrm>
            <a:off x="6225758" y="4440692"/>
            <a:ext cx="91440" cy="91440"/>
          </a:xfrm>
          <a:prstGeom prst="ellipse">
            <a:avLst/>
          </a:prstGeom>
          <a:solidFill>
            <a:srgbClr val="F5A800"/>
          </a:solidFill>
          <a:ln/>
        </p:spPr>
      </p:sp>
      <p:sp>
        <p:nvSpPr>
          <p:cNvPr id="42" name="Shape 40"/>
          <p:cNvSpPr/>
          <p:nvPr/>
        </p:nvSpPr>
        <p:spPr>
          <a:xfrm>
            <a:off x="6592824" y="4486412"/>
            <a:ext cx="428462" cy="0"/>
          </a:xfrm>
          <a:prstGeom prst="line">
            <a:avLst/>
          </a:prstGeom>
          <a:noFill/>
          <a:ln w="6350">
            <a:solidFill>
              <a:srgbClr val="6B7280"/>
            </a:solidFill>
            <a:prstDash val="dash"/>
          </a:ln>
        </p:spPr>
      </p:sp>
      <p:sp>
        <p:nvSpPr>
          <p:cNvPr id="43" name="Text 41"/>
          <p:cNvSpPr/>
          <p:nvPr/>
        </p:nvSpPr>
        <p:spPr>
          <a:xfrm>
            <a:off x="5858691" y="5650992"/>
            <a:ext cx="825573" cy="22860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Discretionary</a:t>
            </a:r>
            <a:endParaRPr lang="en-US" sz="1000" dirty="0"/>
          </a:p>
        </p:txBody>
      </p:sp>
      <p:sp>
        <p:nvSpPr>
          <p:cNvPr id="44" name="Shape 42"/>
          <p:cNvSpPr/>
          <p:nvPr/>
        </p:nvSpPr>
        <p:spPr>
          <a:xfrm>
            <a:off x="7021286" y="4486412"/>
            <a:ext cx="642693" cy="1091428"/>
          </a:xfrm>
          <a:prstGeom prst="rect">
            <a:avLst/>
          </a:prstGeom>
          <a:solidFill>
            <a:srgbClr val="F5A800"/>
          </a:solidFill>
          <a:ln w="3810">
            <a:solidFill>
              <a:srgbClr val="F5A800"/>
            </a:solidFill>
            <a:prstDash val="solid"/>
          </a:ln>
        </p:spPr>
      </p:sp>
      <p:sp>
        <p:nvSpPr>
          <p:cNvPr id="45" name="Text 43"/>
          <p:cNvSpPr/>
          <p:nvPr/>
        </p:nvSpPr>
        <p:spPr>
          <a:xfrm>
            <a:off x="6929846" y="4285244"/>
            <a:ext cx="825573" cy="201168"/>
          </a:xfrm>
          <a:prstGeom prst="rect">
            <a:avLst/>
          </a:prstGeom>
          <a:noFill/>
          <a:ln/>
        </p:spPr>
        <p:txBody>
          <a:bodyPr wrap="square" rtlCol="0" anchor="ctr"/>
          <a:lstStyle/>
          <a:p>
            <a:pPr algn="ctr" indent="0" marL="0">
              <a:buNone/>
            </a:pPr>
            <a:r>
              <a:rPr lang="en-US" sz="900" b="1" dirty="0">
                <a:solidFill>
                  <a:srgbClr val="F5A800"/>
                </a:solidFill>
                <a:latin typeface="Courier New" pitchFamily="34" charset="0"/>
                <a:ea typeface="Courier New" pitchFamily="34" charset="-122"/>
                <a:cs typeface="Courier New" pitchFamily="34" charset="-120"/>
              </a:rPr>
              <a:t>+$3.7K</a:t>
            </a:r>
            <a:endParaRPr lang="en-US" sz="900" dirty="0"/>
          </a:p>
        </p:txBody>
      </p:sp>
      <p:sp>
        <p:nvSpPr>
          <p:cNvPr id="46" name="Text 44"/>
          <p:cNvSpPr/>
          <p:nvPr/>
        </p:nvSpPr>
        <p:spPr>
          <a:xfrm>
            <a:off x="6929846" y="5650992"/>
            <a:ext cx="825573" cy="228600"/>
          </a:xfrm>
          <a:prstGeom prst="rect">
            <a:avLst/>
          </a:prstGeom>
          <a:noFill/>
          <a:ln/>
        </p:spPr>
        <p:txBody>
          <a:bodyPr wrap="square"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Net</a:t>
            </a:r>
            <a:endParaRPr lang="en-US" sz="1000" dirty="0"/>
          </a:p>
        </p:txBody>
      </p:sp>
      <p:sp>
        <p:nvSpPr>
          <p:cNvPr id="47" name="Shape 45"/>
          <p:cNvSpPr/>
          <p:nvPr/>
        </p:nvSpPr>
        <p:spPr>
          <a:xfrm>
            <a:off x="8229600" y="1280160"/>
            <a:ext cx="3657600" cy="1051560"/>
          </a:xfrm>
          <a:prstGeom prst="rect">
            <a:avLst/>
          </a:prstGeom>
          <a:solidFill>
            <a:srgbClr val="1C1C1C"/>
          </a:solidFill>
          <a:ln w="6350">
            <a:solidFill>
              <a:srgbClr val="2A2A2A"/>
            </a:solidFill>
            <a:prstDash val="solid"/>
          </a:ln>
        </p:spPr>
      </p:sp>
      <p:sp>
        <p:nvSpPr>
          <p:cNvPr id="48" name="Shape 46"/>
          <p:cNvSpPr/>
          <p:nvPr/>
        </p:nvSpPr>
        <p:spPr>
          <a:xfrm>
            <a:off x="8229600" y="1280160"/>
            <a:ext cx="73152" cy="1051560"/>
          </a:xfrm>
          <a:prstGeom prst="rect">
            <a:avLst/>
          </a:prstGeom>
          <a:solidFill>
            <a:srgbClr val="F5A800"/>
          </a:solidFill>
          <a:ln/>
        </p:spPr>
      </p:sp>
      <p:sp>
        <p:nvSpPr>
          <p:cNvPr id="49" name="Text 47"/>
          <p:cNvSpPr/>
          <p:nvPr/>
        </p:nvSpPr>
        <p:spPr>
          <a:xfrm>
            <a:off x="8366760" y="1417320"/>
            <a:ext cx="3383280" cy="274320"/>
          </a:xfrm>
          <a:prstGeom prst="rect">
            <a:avLst/>
          </a:prstGeom>
          <a:noFill/>
          <a:ln/>
        </p:spPr>
        <p:txBody>
          <a:bodyPr wrap="square" rtlCol="0" anchor="ctr"/>
          <a:lstStyle/>
          <a:p>
            <a:pPr indent="0" marL="0">
              <a:buNone/>
            </a:pPr>
            <a:r>
              <a:rPr lang="en-US" sz="1200" b="1" dirty="0">
                <a:solidFill>
                  <a:srgbClr val="F2EFE9"/>
                </a:solidFill>
                <a:latin typeface="Arial" pitchFamily="34" charset="0"/>
                <a:ea typeface="Arial" pitchFamily="34" charset="-122"/>
                <a:cs typeface="Arial" pitchFamily="34" charset="-120"/>
              </a:rPr>
              <a:t>Hover any bar</a:t>
            </a:r>
            <a:endParaRPr lang="en-US" sz="1200" dirty="0"/>
          </a:p>
        </p:txBody>
      </p:sp>
      <p:sp>
        <p:nvSpPr>
          <p:cNvPr id="50" name="Text 48"/>
          <p:cNvSpPr/>
          <p:nvPr/>
        </p:nvSpPr>
        <p:spPr>
          <a:xfrm>
            <a:off x="8366760" y="1691640"/>
            <a:ext cx="3383280" cy="50292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Tooltip shows category total, direction (Adds/Reduces), and running balance</a:t>
            </a:r>
            <a:endParaRPr lang="en-US" sz="1100" dirty="0"/>
          </a:p>
        </p:txBody>
      </p:sp>
      <p:sp>
        <p:nvSpPr>
          <p:cNvPr id="51" name="Shape 49"/>
          <p:cNvSpPr/>
          <p:nvPr/>
        </p:nvSpPr>
        <p:spPr>
          <a:xfrm>
            <a:off x="8229600" y="2514600"/>
            <a:ext cx="3657600" cy="1051560"/>
          </a:xfrm>
          <a:prstGeom prst="rect">
            <a:avLst/>
          </a:prstGeom>
          <a:solidFill>
            <a:srgbClr val="1C1C1C"/>
          </a:solidFill>
          <a:ln w="6350">
            <a:solidFill>
              <a:srgbClr val="2A2A2A"/>
            </a:solidFill>
            <a:prstDash val="solid"/>
          </a:ln>
        </p:spPr>
      </p:sp>
      <p:sp>
        <p:nvSpPr>
          <p:cNvPr id="52" name="Shape 50"/>
          <p:cNvSpPr/>
          <p:nvPr/>
        </p:nvSpPr>
        <p:spPr>
          <a:xfrm>
            <a:off x="8229600" y="2514600"/>
            <a:ext cx="73152" cy="1051560"/>
          </a:xfrm>
          <a:prstGeom prst="rect">
            <a:avLst/>
          </a:prstGeom>
          <a:solidFill>
            <a:srgbClr val="F5A800"/>
          </a:solidFill>
          <a:ln/>
        </p:spPr>
      </p:sp>
      <p:sp>
        <p:nvSpPr>
          <p:cNvPr id="53" name="Text 51"/>
          <p:cNvSpPr/>
          <p:nvPr/>
        </p:nvSpPr>
        <p:spPr>
          <a:xfrm>
            <a:off x="8366760" y="2651760"/>
            <a:ext cx="3383280" cy="274320"/>
          </a:xfrm>
          <a:prstGeom prst="rect">
            <a:avLst/>
          </a:prstGeom>
          <a:noFill/>
          <a:ln/>
        </p:spPr>
        <p:txBody>
          <a:bodyPr wrap="square" rtlCol="0" anchor="ctr"/>
          <a:lstStyle/>
          <a:p>
            <a:pPr indent="0" marL="0">
              <a:buNone/>
            </a:pPr>
            <a:r>
              <a:rPr lang="en-US" sz="1200" b="1" dirty="0">
                <a:solidFill>
                  <a:srgbClr val="F2EFE9"/>
                </a:solidFill>
                <a:latin typeface="Arial" pitchFamily="34" charset="0"/>
                <a:ea typeface="Arial" pitchFamily="34" charset="-122"/>
                <a:cs typeface="Arial" pitchFamily="34" charset="-120"/>
              </a:rPr>
              <a:t>Gold dots</a:t>
            </a:r>
            <a:endParaRPr lang="en-US" sz="1200" dirty="0"/>
          </a:p>
        </p:txBody>
      </p:sp>
      <p:sp>
        <p:nvSpPr>
          <p:cNvPr id="54" name="Text 52"/>
          <p:cNvSpPr/>
          <p:nvPr/>
        </p:nvSpPr>
        <p:spPr>
          <a:xfrm>
            <a:off x="8366760" y="2926080"/>
            <a:ext cx="3383280" cy="50292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Mark the cumulative running total after each spending category</a:t>
            </a:r>
            <a:endParaRPr lang="en-US" sz="1100" dirty="0"/>
          </a:p>
        </p:txBody>
      </p:sp>
      <p:sp>
        <p:nvSpPr>
          <p:cNvPr id="55" name="Shape 53"/>
          <p:cNvSpPr/>
          <p:nvPr/>
        </p:nvSpPr>
        <p:spPr>
          <a:xfrm>
            <a:off x="8229600" y="3749040"/>
            <a:ext cx="3657600" cy="1051560"/>
          </a:xfrm>
          <a:prstGeom prst="rect">
            <a:avLst/>
          </a:prstGeom>
          <a:solidFill>
            <a:srgbClr val="1C1C1C"/>
          </a:solidFill>
          <a:ln w="6350">
            <a:solidFill>
              <a:srgbClr val="2A2A2A"/>
            </a:solidFill>
            <a:prstDash val="solid"/>
          </a:ln>
        </p:spPr>
      </p:sp>
      <p:sp>
        <p:nvSpPr>
          <p:cNvPr id="56" name="Shape 54"/>
          <p:cNvSpPr/>
          <p:nvPr/>
        </p:nvSpPr>
        <p:spPr>
          <a:xfrm>
            <a:off x="8229600" y="3749040"/>
            <a:ext cx="73152" cy="1051560"/>
          </a:xfrm>
          <a:prstGeom prst="rect">
            <a:avLst/>
          </a:prstGeom>
          <a:solidFill>
            <a:srgbClr val="F5A800"/>
          </a:solidFill>
          <a:ln/>
        </p:spPr>
      </p:sp>
      <p:sp>
        <p:nvSpPr>
          <p:cNvPr id="57" name="Text 55"/>
          <p:cNvSpPr/>
          <p:nvPr/>
        </p:nvSpPr>
        <p:spPr>
          <a:xfrm>
            <a:off x="8366760" y="3886200"/>
            <a:ext cx="3383280" cy="274320"/>
          </a:xfrm>
          <a:prstGeom prst="rect">
            <a:avLst/>
          </a:prstGeom>
          <a:noFill/>
          <a:ln/>
        </p:spPr>
        <p:txBody>
          <a:bodyPr wrap="square" rtlCol="0" anchor="ctr"/>
          <a:lstStyle/>
          <a:p>
            <a:pPr indent="0" marL="0">
              <a:buNone/>
            </a:pPr>
            <a:r>
              <a:rPr lang="en-US" sz="1200" b="1" dirty="0">
                <a:solidFill>
                  <a:srgbClr val="F2EFE9"/>
                </a:solidFill>
                <a:latin typeface="Arial" pitchFamily="34" charset="0"/>
                <a:ea typeface="Arial" pitchFamily="34" charset="-122"/>
                <a:cs typeface="Arial" pitchFamily="34" charset="-120"/>
              </a:rPr>
              <a:t>Net bar</a:t>
            </a:r>
            <a:endParaRPr lang="en-US" sz="1200" dirty="0"/>
          </a:p>
        </p:txBody>
      </p:sp>
      <p:sp>
        <p:nvSpPr>
          <p:cNvPr id="58" name="Text 56"/>
          <p:cNvSpPr/>
          <p:nvPr/>
        </p:nvSpPr>
        <p:spPr>
          <a:xfrm>
            <a:off x="8366760" y="4160520"/>
            <a:ext cx="3383280" cy="50292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Always floats from zero — makes surplus/deficit immediately obvious</a:t>
            </a:r>
            <a:endParaRPr lang="en-US" sz="1100" dirty="0"/>
          </a:p>
        </p:txBody>
      </p:sp>
      <p:sp>
        <p:nvSpPr>
          <p:cNvPr id="59" name="Shape 57"/>
          <p:cNvSpPr/>
          <p:nvPr/>
        </p:nvSpPr>
        <p:spPr>
          <a:xfrm>
            <a:off x="8229600" y="4983480"/>
            <a:ext cx="3657600" cy="1051560"/>
          </a:xfrm>
          <a:prstGeom prst="rect">
            <a:avLst/>
          </a:prstGeom>
          <a:solidFill>
            <a:srgbClr val="1C1C1C"/>
          </a:solidFill>
          <a:ln w="6350">
            <a:solidFill>
              <a:srgbClr val="2A2A2A"/>
            </a:solidFill>
            <a:prstDash val="solid"/>
          </a:ln>
        </p:spPr>
      </p:sp>
      <p:sp>
        <p:nvSpPr>
          <p:cNvPr id="60" name="Shape 58"/>
          <p:cNvSpPr/>
          <p:nvPr/>
        </p:nvSpPr>
        <p:spPr>
          <a:xfrm>
            <a:off x="8229600" y="4983480"/>
            <a:ext cx="73152" cy="1051560"/>
          </a:xfrm>
          <a:prstGeom prst="rect">
            <a:avLst/>
          </a:prstGeom>
          <a:solidFill>
            <a:srgbClr val="F5A800"/>
          </a:solidFill>
          <a:ln/>
        </p:spPr>
      </p:sp>
      <p:sp>
        <p:nvSpPr>
          <p:cNvPr id="61" name="Text 59"/>
          <p:cNvSpPr/>
          <p:nvPr/>
        </p:nvSpPr>
        <p:spPr>
          <a:xfrm>
            <a:off x="8366760" y="5120640"/>
            <a:ext cx="3383280" cy="274320"/>
          </a:xfrm>
          <a:prstGeom prst="rect">
            <a:avLst/>
          </a:prstGeom>
          <a:noFill/>
          <a:ln/>
        </p:spPr>
        <p:txBody>
          <a:bodyPr wrap="square" rtlCol="0" anchor="ctr"/>
          <a:lstStyle/>
          <a:p>
            <a:pPr indent="0" marL="0">
              <a:buNone/>
            </a:pPr>
            <a:r>
              <a:rPr lang="en-US" sz="1200" b="1" dirty="0">
                <a:solidFill>
                  <a:srgbClr val="F2EFE9"/>
                </a:solidFill>
                <a:latin typeface="Arial" pitchFamily="34" charset="0"/>
                <a:ea typeface="Arial" pitchFamily="34" charset="-122"/>
                <a:cs typeface="Arial" pitchFamily="34" charset="-120"/>
              </a:rPr>
              <a:t>All periods</a:t>
            </a:r>
            <a:endParaRPr lang="en-US" sz="1200" dirty="0"/>
          </a:p>
        </p:txBody>
      </p:sp>
      <p:sp>
        <p:nvSpPr>
          <p:cNvPr id="62" name="Text 60"/>
          <p:cNvSpPr/>
          <p:nvPr/>
        </p:nvSpPr>
        <p:spPr>
          <a:xfrm>
            <a:off x="8366760" y="5394960"/>
            <a:ext cx="3383280" cy="50292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Covers the full selected date range (3M, 6M, 1Y, or All)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274320"/>
            <a:ext cx="5486400" cy="256032"/>
          </a:xfrm>
          <a:prstGeom prst="rect">
            <a:avLst/>
          </a:prstGeom>
          <a:noFill/>
          <a:ln/>
        </p:spPr>
        <p:txBody>
          <a:bodyPr wrap="square" rtlCol="0" anchor="ctr"/>
          <a:lstStyle/>
          <a:p>
            <a:pPr algn="l" indent="0" marL="0">
              <a:buNone/>
            </a:pPr>
            <a:r>
              <a:rPr lang="en-US" sz="900" spc="300" kern="0" dirty="0">
                <a:solidFill>
                  <a:srgbClr val="F5A800"/>
                </a:solidFill>
                <a:latin typeface="Courier New" pitchFamily="34" charset="0"/>
                <a:ea typeface="Courier New" pitchFamily="34" charset="-122"/>
                <a:cs typeface="Courier New" pitchFamily="34" charset="-120"/>
              </a:rPr>
              <a:t>ARCHITECTURE</a:t>
            </a:r>
            <a:endParaRPr lang="en-US" sz="900" dirty="0"/>
          </a:p>
        </p:txBody>
      </p:sp>
      <p:sp>
        <p:nvSpPr>
          <p:cNvPr id="3" name="Text 1"/>
          <p:cNvSpPr/>
          <p:nvPr/>
        </p:nvSpPr>
        <p:spPr>
          <a:xfrm>
            <a:off x="457200" y="411480"/>
            <a:ext cx="11247120" cy="1645920"/>
          </a:xfrm>
          <a:prstGeom prst="rect">
            <a:avLst/>
          </a:prstGeom>
          <a:noFill/>
          <a:ln/>
        </p:spPr>
        <p:txBody>
          <a:bodyPr wrap="square" rtlCol="0" anchor="t"/>
          <a:lstStyle/>
          <a:p>
            <a:pPr algn="l" indent="0" marL="0">
              <a:buNone/>
            </a:pPr>
            <a:r>
              <a:rPr lang="en-US" sz="3000" b="1" dirty="0">
                <a:solidFill>
                  <a:srgbClr val="F2EFE9"/>
                </a:solidFill>
                <a:latin typeface="Georgia" pitchFamily="34" charset="0"/>
                <a:ea typeface="Georgia" pitchFamily="34" charset="-122"/>
                <a:cs typeface="Georgia" pitchFamily="34" charset="-120"/>
              </a:rPr>
              <a:t>Built to plug into Quicken.</a:t>
            </a:r>
            <a:endParaRPr lang="en-US" sz="3000" dirty="0"/>
          </a:p>
          <a:p>
            <a:pPr algn="l" indent="0" marL="0">
              <a:buNone/>
            </a:pPr>
            <a:r>
              <a:rPr lang="en-US" sz="3000" b="1" dirty="0">
                <a:solidFill>
                  <a:srgbClr val="F2EFE9"/>
                </a:solidFill>
                <a:latin typeface="Georgia" pitchFamily="34" charset="0"/>
                <a:ea typeface="Georgia" pitchFamily="34" charset="-122"/>
                <a:cs typeface="Georgia" pitchFamily="34" charset="-120"/>
              </a:rPr>
              <a:t>No new infrastructure required.</a:t>
            </a:r>
            <a:endParaRPr lang="en-US" sz="3000" dirty="0"/>
          </a:p>
        </p:txBody>
      </p:sp>
      <p:sp>
        <p:nvSpPr>
          <p:cNvPr id="4" name="Shape 2"/>
          <p:cNvSpPr/>
          <p:nvPr/>
        </p:nvSpPr>
        <p:spPr>
          <a:xfrm>
            <a:off x="457200" y="1965960"/>
            <a:ext cx="11247120" cy="0"/>
          </a:xfrm>
          <a:prstGeom prst="line">
            <a:avLst/>
          </a:prstGeom>
          <a:noFill/>
          <a:ln w="19050">
            <a:solidFill>
              <a:srgbClr val="F5A800"/>
            </a:solidFill>
            <a:prstDash val="solid"/>
          </a:ln>
        </p:spPr>
      </p:sp>
      <p:sp>
        <p:nvSpPr>
          <p:cNvPr id="5" name="Text 3"/>
          <p:cNvSpPr/>
          <p:nvPr/>
        </p:nvSpPr>
        <p:spPr>
          <a:xfrm>
            <a:off x="457200" y="2103120"/>
            <a:ext cx="11247120" cy="731520"/>
          </a:xfrm>
          <a:prstGeom prst="rect">
            <a:avLst/>
          </a:prstGeom>
          <a:noFill/>
          <a:ln/>
        </p:spPr>
        <p:txBody>
          <a:bodyPr wrap="square" rtlCol="0" anchor="ctr"/>
          <a:lstStyle/>
          <a:p>
            <a:pPr indent="0" marL="0">
              <a:buNone/>
            </a:pPr>
            <a:r>
              <a:rPr lang="en-US" sz="1400" dirty="0">
                <a:solidFill>
                  <a:srgbClr val="9CA3AF"/>
                </a:solidFill>
                <a:latin typeface="Arial" pitchFamily="34" charset="0"/>
                <a:ea typeface="Arial" pitchFamily="34" charset="-122"/>
                <a:cs typeface="Arial" pitchFamily="34" charset="-120"/>
              </a:rPr>
              <a:t>Forge is a single HTML file with no framework dependencies. It runs entirely in the browser — no server, no database, no account required. This makes it trivially embeddable as a Quicken add-on or white-label web app.</a:t>
            </a:r>
            <a:endParaRPr lang="en-US" sz="1400" dirty="0"/>
          </a:p>
        </p:txBody>
      </p:sp>
      <p:sp>
        <p:nvSpPr>
          <p:cNvPr id="6" name="Shape 4"/>
          <p:cNvSpPr/>
          <p:nvPr/>
        </p:nvSpPr>
        <p:spPr>
          <a:xfrm>
            <a:off x="457200" y="2971800"/>
            <a:ext cx="5486400" cy="1143000"/>
          </a:xfrm>
          <a:prstGeom prst="rect">
            <a:avLst/>
          </a:prstGeom>
          <a:solidFill>
            <a:srgbClr val="1C1C1C"/>
          </a:solidFill>
          <a:ln w="6350">
            <a:solidFill>
              <a:srgbClr val="2A2A2A"/>
            </a:solidFill>
            <a:prstDash val="solid"/>
          </a:ln>
        </p:spPr>
      </p:sp>
      <p:sp>
        <p:nvSpPr>
          <p:cNvPr id="7" name="Shape 5"/>
          <p:cNvSpPr/>
          <p:nvPr/>
        </p:nvSpPr>
        <p:spPr>
          <a:xfrm>
            <a:off x="457200" y="2971800"/>
            <a:ext cx="73152" cy="1143000"/>
          </a:xfrm>
          <a:prstGeom prst="rect">
            <a:avLst/>
          </a:prstGeom>
          <a:solidFill>
            <a:srgbClr val="F5A800"/>
          </a:solidFill>
          <a:ln/>
        </p:spPr>
      </p:sp>
      <p:sp>
        <p:nvSpPr>
          <p:cNvPr id="8" name="Text 6"/>
          <p:cNvSpPr/>
          <p:nvPr/>
        </p:nvSpPr>
        <p:spPr>
          <a:xfrm>
            <a:off x="640080" y="3081528"/>
            <a:ext cx="5212080" cy="256032"/>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Parser Layer</a:t>
            </a:r>
            <a:endParaRPr lang="en-US" sz="1300" dirty="0"/>
          </a:p>
        </p:txBody>
      </p:sp>
      <p:sp>
        <p:nvSpPr>
          <p:cNvPr id="9" name="Text 7"/>
          <p:cNvSpPr/>
          <p:nvPr/>
        </p:nvSpPr>
        <p:spPr>
          <a:xfrm>
            <a:off x="640080" y="3337560"/>
            <a:ext cx="5212080" cy="68580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Auto-detects Quicken QIF, CSV, QFX, OFX, Amazon, Apple Card, Venmo, Home Depot from column signatures. Claude AI Smart Scan handles anything else.</a:t>
            </a:r>
            <a:endParaRPr lang="en-US" sz="1100" dirty="0"/>
          </a:p>
        </p:txBody>
      </p:sp>
      <p:sp>
        <p:nvSpPr>
          <p:cNvPr id="10" name="Shape 8"/>
          <p:cNvSpPr/>
          <p:nvPr/>
        </p:nvSpPr>
        <p:spPr>
          <a:xfrm>
            <a:off x="6309360" y="2971800"/>
            <a:ext cx="5486400" cy="1143000"/>
          </a:xfrm>
          <a:prstGeom prst="rect">
            <a:avLst/>
          </a:prstGeom>
          <a:solidFill>
            <a:srgbClr val="1C1C1C"/>
          </a:solidFill>
          <a:ln w="6350">
            <a:solidFill>
              <a:srgbClr val="2A2A2A"/>
            </a:solidFill>
            <a:prstDash val="solid"/>
          </a:ln>
        </p:spPr>
      </p:sp>
      <p:sp>
        <p:nvSpPr>
          <p:cNvPr id="11" name="Shape 9"/>
          <p:cNvSpPr/>
          <p:nvPr/>
        </p:nvSpPr>
        <p:spPr>
          <a:xfrm>
            <a:off x="6309360" y="2971800"/>
            <a:ext cx="73152" cy="1143000"/>
          </a:xfrm>
          <a:prstGeom prst="rect">
            <a:avLst/>
          </a:prstGeom>
          <a:solidFill>
            <a:srgbClr val="F5A800"/>
          </a:solidFill>
          <a:ln/>
        </p:spPr>
      </p:sp>
      <p:sp>
        <p:nvSpPr>
          <p:cNvPr id="12" name="Text 10"/>
          <p:cNvSpPr/>
          <p:nvPr/>
        </p:nvSpPr>
        <p:spPr>
          <a:xfrm>
            <a:off x="6492240" y="3081528"/>
            <a:ext cx="5212080" cy="256032"/>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Classification</a:t>
            </a:r>
            <a:endParaRPr lang="en-US" sz="1300" dirty="0"/>
          </a:p>
        </p:txBody>
      </p:sp>
      <p:sp>
        <p:nvSpPr>
          <p:cNvPr id="13" name="Text 11"/>
          <p:cNvSpPr/>
          <p:nvPr/>
        </p:nvSpPr>
        <p:spPr>
          <a:xfrm>
            <a:off x="6492240" y="3337560"/>
            <a:ext cx="5212080" cy="68580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QUICKEN_CAT_MAP + KW_MAP: maps Quicken's native category strings and payee keywords to 35+ standardized buckets. Fully updatable.</a:t>
            </a:r>
            <a:endParaRPr lang="en-US" sz="1100" dirty="0"/>
          </a:p>
        </p:txBody>
      </p:sp>
      <p:sp>
        <p:nvSpPr>
          <p:cNvPr id="14" name="Shape 12"/>
          <p:cNvSpPr/>
          <p:nvPr/>
        </p:nvSpPr>
        <p:spPr>
          <a:xfrm>
            <a:off x="457200" y="4251960"/>
            <a:ext cx="5486400" cy="1143000"/>
          </a:xfrm>
          <a:prstGeom prst="rect">
            <a:avLst/>
          </a:prstGeom>
          <a:solidFill>
            <a:srgbClr val="1C1C1C"/>
          </a:solidFill>
          <a:ln w="6350">
            <a:solidFill>
              <a:srgbClr val="2A2A2A"/>
            </a:solidFill>
            <a:prstDash val="solid"/>
          </a:ln>
        </p:spPr>
      </p:sp>
      <p:sp>
        <p:nvSpPr>
          <p:cNvPr id="15" name="Shape 13"/>
          <p:cNvSpPr/>
          <p:nvPr/>
        </p:nvSpPr>
        <p:spPr>
          <a:xfrm>
            <a:off x="457200" y="4251960"/>
            <a:ext cx="73152" cy="1143000"/>
          </a:xfrm>
          <a:prstGeom prst="rect">
            <a:avLst/>
          </a:prstGeom>
          <a:solidFill>
            <a:srgbClr val="F5A800"/>
          </a:solidFill>
          <a:ln/>
        </p:spPr>
      </p:sp>
      <p:sp>
        <p:nvSpPr>
          <p:cNvPr id="16" name="Text 14"/>
          <p:cNvSpPr/>
          <p:nvPr/>
        </p:nvSpPr>
        <p:spPr>
          <a:xfrm>
            <a:off x="640080" y="4361688"/>
            <a:ext cx="5212080" cy="256032"/>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Attribution</a:t>
            </a:r>
            <a:endParaRPr lang="en-US" sz="1300" dirty="0"/>
          </a:p>
        </p:txBody>
      </p:sp>
      <p:sp>
        <p:nvSpPr>
          <p:cNvPr id="17" name="Text 15"/>
          <p:cNvSpPr/>
          <p:nvPr/>
        </p:nvSpPr>
        <p:spPr>
          <a:xfrm>
            <a:off x="640080" y="4617720"/>
            <a:ext cx="5212080" cy="68580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Purchaser attribution from filename conventions + Settings account-to-owner mapping. Renders at display time, never stored on transactions.</a:t>
            </a:r>
            <a:endParaRPr lang="en-US" sz="1100" dirty="0"/>
          </a:p>
        </p:txBody>
      </p:sp>
      <p:sp>
        <p:nvSpPr>
          <p:cNvPr id="18" name="Shape 16"/>
          <p:cNvSpPr/>
          <p:nvPr/>
        </p:nvSpPr>
        <p:spPr>
          <a:xfrm>
            <a:off x="6309360" y="4251960"/>
            <a:ext cx="5486400" cy="1143000"/>
          </a:xfrm>
          <a:prstGeom prst="rect">
            <a:avLst/>
          </a:prstGeom>
          <a:solidFill>
            <a:srgbClr val="1C1C1C"/>
          </a:solidFill>
          <a:ln w="6350">
            <a:solidFill>
              <a:srgbClr val="2A2A2A"/>
            </a:solidFill>
            <a:prstDash val="solid"/>
          </a:ln>
        </p:spPr>
      </p:sp>
      <p:sp>
        <p:nvSpPr>
          <p:cNvPr id="19" name="Shape 17"/>
          <p:cNvSpPr/>
          <p:nvPr/>
        </p:nvSpPr>
        <p:spPr>
          <a:xfrm>
            <a:off x="6309360" y="4251960"/>
            <a:ext cx="73152" cy="1143000"/>
          </a:xfrm>
          <a:prstGeom prst="rect">
            <a:avLst/>
          </a:prstGeom>
          <a:solidFill>
            <a:srgbClr val="F5A800"/>
          </a:solidFill>
          <a:ln/>
        </p:spPr>
      </p:sp>
      <p:sp>
        <p:nvSpPr>
          <p:cNvPr id="20" name="Text 18"/>
          <p:cNvSpPr/>
          <p:nvPr/>
        </p:nvSpPr>
        <p:spPr>
          <a:xfrm>
            <a:off x="6492240" y="4361688"/>
            <a:ext cx="5212080" cy="256032"/>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Storage</a:t>
            </a:r>
            <a:endParaRPr lang="en-US" sz="1300" dirty="0"/>
          </a:p>
        </p:txBody>
      </p:sp>
      <p:sp>
        <p:nvSpPr>
          <p:cNvPr id="21" name="Text 19"/>
          <p:cNvSpPr/>
          <p:nvPr/>
        </p:nvSpPr>
        <p:spPr>
          <a:xfrm>
            <a:off x="6492240" y="4617720"/>
            <a:ext cx="5212080" cy="68580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localStorage only. Transactions, snapshots, and settings all client-side. Zero server dependency for core functionality.</a:t>
            </a:r>
            <a:endParaRPr lang="en-US" sz="1100" dirty="0"/>
          </a:p>
        </p:txBody>
      </p:sp>
      <p:sp>
        <p:nvSpPr>
          <p:cNvPr id="22" name="Shape 20"/>
          <p:cNvSpPr/>
          <p:nvPr/>
        </p:nvSpPr>
        <p:spPr>
          <a:xfrm>
            <a:off x="457200" y="5532120"/>
            <a:ext cx="5486400" cy="1143000"/>
          </a:xfrm>
          <a:prstGeom prst="rect">
            <a:avLst/>
          </a:prstGeom>
          <a:solidFill>
            <a:srgbClr val="1C1C1C"/>
          </a:solidFill>
          <a:ln w="6350">
            <a:solidFill>
              <a:srgbClr val="2A2A2A"/>
            </a:solidFill>
            <a:prstDash val="solid"/>
          </a:ln>
        </p:spPr>
      </p:sp>
      <p:sp>
        <p:nvSpPr>
          <p:cNvPr id="23" name="Shape 21"/>
          <p:cNvSpPr/>
          <p:nvPr/>
        </p:nvSpPr>
        <p:spPr>
          <a:xfrm>
            <a:off x="457200" y="5532120"/>
            <a:ext cx="73152" cy="1143000"/>
          </a:xfrm>
          <a:prstGeom prst="rect">
            <a:avLst/>
          </a:prstGeom>
          <a:solidFill>
            <a:srgbClr val="F5A800"/>
          </a:solidFill>
          <a:ln/>
        </p:spPr>
      </p:sp>
      <p:sp>
        <p:nvSpPr>
          <p:cNvPr id="24" name="Text 22"/>
          <p:cNvSpPr/>
          <p:nvPr/>
        </p:nvSpPr>
        <p:spPr>
          <a:xfrm>
            <a:off x="640080" y="5641848"/>
            <a:ext cx="5212080" cy="256032"/>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AI Layer</a:t>
            </a:r>
            <a:endParaRPr lang="en-US" sz="1300" dirty="0"/>
          </a:p>
        </p:txBody>
      </p:sp>
      <p:sp>
        <p:nvSpPr>
          <p:cNvPr id="25" name="Text 23"/>
          <p:cNvSpPr/>
          <p:nvPr/>
        </p:nvSpPr>
        <p:spPr>
          <a:xfrm>
            <a:off x="640080" y="5897880"/>
            <a:ext cx="5212080" cy="68580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Optional Cloudflare Worker proxies to Anthropic Claude API. Smart Scan + Ask $id. Deployable in minutes, isolated from core functionality.</a:t>
            </a:r>
            <a:endParaRPr lang="en-US" sz="1100" dirty="0"/>
          </a:p>
        </p:txBody>
      </p:sp>
      <p:sp>
        <p:nvSpPr>
          <p:cNvPr id="26" name="Shape 24"/>
          <p:cNvSpPr/>
          <p:nvPr/>
        </p:nvSpPr>
        <p:spPr>
          <a:xfrm>
            <a:off x="6309360" y="5532120"/>
            <a:ext cx="5486400" cy="1143000"/>
          </a:xfrm>
          <a:prstGeom prst="rect">
            <a:avLst/>
          </a:prstGeom>
          <a:solidFill>
            <a:srgbClr val="1C1C1C"/>
          </a:solidFill>
          <a:ln w="6350">
            <a:solidFill>
              <a:srgbClr val="2A2A2A"/>
            </a:solidFill>
            <a:prstDash val="solid"/>
          </a:ln>
        </p:spPr>
      </p:sp>
      <p:sp>
        <p:nvSpPr>
          <p:cNvPr id="27" name="Shape 25"/>
          <p:cNvSpPr/>
          <p:nvPr/>
        </p:nvSpPr>
        <p:spPr>
          <a:xfrm>
            <a:off x="6309360" y="5532120"/>
            <a:ext cx="73152" cy="1143000"/>
          </a:xfrm>
          <a:prstGeom prst="rect">
            <a:avLst/>
          </a:prstGeom>
          <a:solidFill>
            <a:srgbClr val="F5A800"/>
          </a:solidFill>
          <a:ln/>
        </p:spPr>
      </p:sp>
      <p:sp>
        <p:nvSpPr>
          <p:cNvPr id="28" name="Text 26"/>
          <p:cNvSpPr/>
          <p:nvPr/>
        </p:nvSpPr>
        <p:spPr>
          <a:xfrm>
            <a:off x="6492240" y="5641848"/>
            <a:ext cx="5212080" cy="256032"/>
          </a:xfrm>
          <a:prstGeom prst="rect">
            <a:avLst/>
          </a:prstGeom>
          <a:noFill/>
          <a:ln/>
        </p:spPr>
        <p:txBody>
          <a:bodyPr wrap="square" rtlCol="0" anchor="ctr"/>
          <a:lstStyle/>
          <a:p>
            <a:pPr indent="0" marL="0">
              <a:buNone/>
            </a:pPr>
            <a:r>
              <a:rPr lang="en-US" sz="1300" b="1" dirty="0">
                <a:solidFill>
                  <a:srgbClr val="F2EFE9"/>
                </a:solidFill>
                <a:latin typeface="Arial" pitchFamily="34" charset="0"/>
                <a:ea typeface="Arial" pitchFamily="34" charset="-122"/>
                <a:cs typeface="Arial" pitchFamily="34" charset="-120"/>
              </a:rPr>
              <a:t>Charts</a:t>
            </a:r>
            <a:endParaRPr lang="en-US" sz="1300" dirty="0"/>
          </a:p>
        </p:txBody>
      </p:sp>
      <p:sp>
        <p:nvSpPr>
          <p:cNvPr id="29" name="Text 27"/>
          <p:cNvSpPr/>
          <p:nvPr/>
        </p:nvSpPr>
        <p:spPr>
          <a:xfrm>
            <a:off x="6492240" y="5897880"/>
            <a:ext cx="5212080" cy="68580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Custom SVG charts (no Chart.js for core charts). Bar, Line, Waterfall, Heatmap, Donut — all with multi-dataset tooltips.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274320"/>
            <a:ext cx="5486400" cy="256032"/>
          </a:xfrm>
          <a:prstGeom prst="rect">
            <a:avLst/>
          </a:prstGeom>
          <a:noFill/>
          <a:ln/>
        </p:spPr>
        <p:txBody>
          <a:bodyPr wrap="square" rtlCol="0" anchor="ctr"/>
          <a:lstStyle/>
          <a:p>
            <a:pPr algn="l" indent="0" marL="0">
              <a:buNone/>
            </a:pPr>
            <a:r>
              <a:rPr lang="en-US" sz="900" spc="300" kern="0" dirty="0">
                <a:solidFill>
                  <a:srgbClr val="F5A800"/>
                </a:solidFill>
                <a:latin typeface="Courier New" pitchFamily="34" charset="0"/>
                <a:ea typeface="Courier New" pitchFamily="34" charset="-122"/>
                <a:cs typeface="Courier New" pitchFamily="34" charset="-120"/>
              </a:rPr>
              <a:t>MARKET FIT</a:t>
            </a:r>
            <a:endParaRPr lang="en-US" sz="900" dirty="0"/>
          </a:p>
        </p:txBody>
      </p:sp>
      <p:sp>
        <p:nvSpPr>
          <p:cNvPr id="3" name="Text 1"/>
          <p:cNvSpPr/>
          <p:nvPr/>
        </p:nvSpPr>
        <p:spPr>
          <a:xfrm>
            <a:off x="457200" y="411480"/>
            <a:ext cx="11247120" cy="1645920"/>
          </a:xfrm>
          <a:prstGeom prst="rect">
            <a:avLst/>
          </a:prstGeom>
          <a:noFill/>
          <a:ln/>
        </p:spPr>
        <p:txBody>
          <a:bodyPr wrap="square" rtlCol="0" anchor="t"/>
          <a:lstStyle/>
          <a:p>
            <a:pPr algn="l" indent="0" marL="0">
              <a:buNone/>
            </a:pPr>
            <a:r>
              <a:rPr lang="en-US" sz="3000" b="1" dirty="0">
                <a:solidFill>
                  <a:srgbClr val="F2EFE9"/>
                </a:solidFill>
                <a:latin typeface="Georgia" pitchFamily="34" charset="0"/>
                <a:ea typeface="Georgia" pitchFamily="34" charset="-122"/>
                <a:cs typeface="Georgia" pitchFamily="34" charset="-120"/>
              </a:rPr>
              <a:t>Quicken's power users are already</a:t>
            </a:r>
            <a:endParaRPr lang="en-US" sz="3000" dirty="0"/>
          </a:p>
          <a:p>
            <a:pPr algn="l" indent="0" marL="0">
              <a:buNone/>
            </a:pPr>
            <a:r>
              <a:rPr lang="en-US" sz="3000" b="1" dirty="0">
                <a:solidFill>
                  <a:srgbClr val="F2EFE9"/>
                </a:solidFill>
                <a:latin typeface="Georgia" pitchFamily="34" charset="0"/>
                <a:ea typeface="Georgia" pitchFamily="34" charset="-122"/>
                <a:cs typeface="Georgia" pitchFamily="34" charset="-120"/>
              </a:rPr>
              <a:t>doing this manually. Stop them.</a:t>
            </a:r>
            <a:endParaRPr lang="en-US" sz="3000" dirty="0"/>
          </a:p>
        </p:txBody>
      </p:sp>
      <p:sp>
        <p:nvSpPr>
          <p:cNvPr id="4" name="Shape 2"/>
          <p:cNvSpPr/>
          <p:nvPr/>
        </p:nvSpPr>
        <p:spPr>
          <a:xfrm>
            <a:off x="457200" y="1965960"/>
            <a:ext cx="11247120" cy="0"/>
          </a:xfrm>
          <a:prstGeom prst="line">
            <a:avLst/>
          </a:prstGeom>
          <a:noFill/>
          <a:ln w="19050">
            <a:solidFill>
              <a:srgbClr val="F5A800"/>
            </a:solidFill>
            <a:prstDash val="solid"/>
          </a:ln>
        </p:spPr>
      </p:sp>
      <p:sp>
        <p:nvSpPr>
          <p:cNvPr id="5" name="Text 3"/>
          <p:cNvSpPr/>
          <p:nvPr/>
        </p:nvSpPr>
        <p:spPr>
          <a:xfrm>
            <a:off x="457200" y="2103120"/>
            <a:ext cx="11247120" cy="914400"/>
          </a:xfrm>
          <a:prstGeom prst="rect">
            <a:avLst/>
          </a:prstGeom>
          <a:noFill/>
          <a:ln/>
        </p:spPr>
        <p:txBody>
          <a:bodyPr wrap="square" rtlCol="0" anchor="ctr"/>
          <a:lstStyle/>
          <a:p>
            <a:pPr indent="0" marL="0">
              <a:buNone/>
            </a:pPr>
            <a:r>
              <a:rPr lang="en-US" sz="1400" dirty="0">
                <a:solidFill>
                  <a:srgbClr val="9CA3AF"/>
                </a:solidFill>
                <a:latin typeface="Arial" pitchFamily="34" charset="0"/>
                <a:ea typeface="Arial" pitchFamily="34" charset="-122"/>
                <a:cs typeface="Arial" pitchFamily="34" charset="-120"/>
              </a:rPr>
              <a:t>Quicken's most valuable customers — households earning $150K+, managing multiple accounts, tracking investments and real estate — are the exact users who export data and build their own spreadsheets. Forge formalizes what they're already doing and keeps them inside the Quicken ecosystem.</a:t>
            </a:r>
            <a:endParaRPr lang="en-US" sz="1400" dirty="0"/>
          </a:p>
        </p:txBody>
      </p:sp>
      <p:sp>
        <p:nvSpPr>
          <p:cNvPr id="6" name="Shape 4"/>
          <p:cNvSpPr/>
          <p:nvPr/>
        </p:nvSpPr>
        <p:spPr>
          <a:xfrm>
            <a:off x="457200" y="3154680"/>
            <a:ext cx="2560320" cy="457200"/>
          </a:xfrm>
          <a:prstGeom prst="rect">
            <a:avLst/>
          </a:prstGeom>
          <a:solidFill>
            <a:srgbClr val="222222"/>
          </a:solidFill>
          <a:ln/>
        </p:spPr>
      </p:sp>
      <p:sp>
        <p:nvSpPr>
          <p:cNvPr id="7" name="Text 5"/>
          <p:cNvSpPr/>
          <p:nvPr/>
        </p:nvSpPr>
        <p:spPr>
          <a:xfrm>
            <a:off x="548640" y="3200400"/>
            <a:ext cx="2377440" cy="365760"/>
          </a:xfrm>
          <a:prstGeom prst="rect">
            <a:avLst/>
          </a:prstGeom>
          <a:noFill/>
          <a:ln/>
        </p:spPr>
        <p:txBody>
          <a:bodyPr wrap="square" rtlCol="0" anchor="ctr"/>
          <a:lstStyle/>
          <a:p>
            <a:pPr indent="0" marL="0">
              <a:buNone/>
            </a:pPr>
            <a:r>
              <a:rPr lang="en-US" sz="1200" b="1" dirty="0">
                <a:solidFill>
                  <a:srgbClr val="F5A800"/>
                </a:solidFill>
                <a:latin typeface="Arial" pitchFamily="34" charset="0"/>
                <a:ea typeface="Arial" pitchFamily="34" charset="-122"/>
                <a:cs typeface="Arial" pitchFamily="34" charset="-120"/>
              </a:rPr>
              <a:t>Capability</a:t>
            </a:r>
            <a:endParaRPr lang="en-US" sz="1200" dirty="0"/>
          </a:p>
        </p:txBody>
      </p:sp>
      <p:sp>
        <p:nvSpPr>
          <p:cNvPr id="8" name="Shape 6"/>
          <p:cNvSpPr/>
          <p:nvPr/>
        </p:nvSpPr>
        <p:spPr>
          <a:xfrm>
            <a:off x="3566160" y="3154680"/>
            <a:ext cx="2377440" cy="457200"/>
          </a:xfrm>
          <a:prstGeom prst="rect">
            <a:avLst/>
          </a:prstGeom>
          <a:solidFill>
            <a:srgbClr val="222222"/>
          </a:solidFill>
          <a:ln/>
        </p:spPr>
      </p:sp>
      <p:sp>
        <p:nvSpPr>
          <p:cNvPr id="9" name="Text 7"/>
          <p:cNvSpPr/>
          <p:nvPr/>
        </p:nvSpPr>
        <p:spPr>
          <a:xfrm>
            <a:off x="3657600" y="3200400"/>
            <a:ext cx="2194560" cy="365760"/>
          </a:xfrm>
          <a:prstGeom prst="rect">
            <a:avLst/>
          </a:prstGeom>
          <a:noFill/>
          <a:ln/>
        </p:spPr>
        <p:txBody>
          <a:bodyPr wrap="square" rtlCol="0" anchor="ctr"/>
          <a:lstStyle/>
          <a:p>
            <a:pPr indent="0" marL="0">
              <a:buNone/>
            </a:pPr>
            <a:r>
              <a:rPr lang="en-US" sz="1200" b="1" dirty="0">
                <a:solidFill>
                  <a:srgbClr val="F5A800"/>
                </a:solidFill>
                <a:latin typeface="Arial" pitchFamily="34" charset="0"/>
                <a:ea typeface="Arial" pitchFamily="34" charset="-122"/>
                <a:cs typeface="Arial" pitchFamily="34" charset="-120"/>
              </a:rPr>
              <a:t>Quicken Today</a:t>
            </a:r>
            <a:endParaRPr lang="en-US" sz="1200" dirty="0"/>
          </a:p>
        </p:txBody>
      </p:sp>
      <p:sp>
        <p:nvSpPr>
          <p:cNvPr id="10" name="Shape 8"/>
          <p:cNvSpPr/>
          <p:nvPr/>
        </p:nvSpPr>
        <p:spPr>
          <a:xfrm>
            <a:off x="6035040" y="3154680"/>
            <a:ext cx="2880360" cy="457200"/>
          </a:xfrm>
          <a:prstGeom prst="rect">
            <a:avLst/>
          </a:prstGeom>
          <a:solidFill>
            <a:srgbClr val="222222"/>
          </a:solidFill>
          <a:ln/>
        </p:spPr>
      </p:sp>
      <p:sp>
        <p:nvSpPr>
          <p:cNvPr id="11" name="Text 9"/>
          <p:cNvSpPr/>
          <p:nvPr/>
        </p:nvSpPr>
        <p:spPr>
          <a:xfrm>
            <a:off x="6126480" y="3200400"/>
            <a:ext cx="2697480" cy="365760"/>
          </a:xfrm>
          <a:prstGeom prst="rect">
            <a:avLst/>
          </a:prstGeom>
          <a:noFill/>
          <a:ln/>
        </p:spPr>
        <p:txBody>
          <a:bodyPr wrap="square" rtlCol="0" anchor="ctr"/>
          <a:lstStyle/>
          <a:p>
            <a:pPr indent="0" marL="0">
              <a:buNone/>
            </a:pPr>
            <a:r>
              <a:rPr lang="en-US" sz="1200" b="1" dirty="0">
                <a:solidFill>
                  <a:srgbClr val="F5A800"/>
                </a:solidFill>
                <a:latin typeface="Arial" pitchFamily="34" charset="0"/>
                <a:ea typeface="Arial" pitchFamily="34" charset="-122"/>
                <a:cs typeface="Arial" pitchFamily="34" charset="-120"/>
              </a:rPr>
              <a:t>Quicken + Forge</a:t>
            </a:r>
            <a:endParaRPr lang="en-US" sz="1200" dirty="0"/>
          </a:p>
        </p:txBody>
      </p:sp>
      <p:sp>
        <p:nvSpPr>
          <p:cNvPr id="12" name="Shape 10"/>
          <p:cNvSpPr/>
          <p:nvPr/>
        </p:nvSpPr>
        <p:spPr>
          <a:xfrm>
            <a:off x="457200" y="3630168"/>
            <a:ext cx="2560320" cy="457200"/>
          </a:xfrm>
          <a:prstGeom prst="rect">
            <a:avLst/>
          </a:prstGeom>
          <a:solidFill>
            <a:srgbClr val="181818"/>
          </a:solidFill>
          <a:ln/>
        </p:spPr>
      </p:sp>
      <p:sp>
        <p:nvSpPr>
          <p:cNvPr id="13" name="Text 11"/>
          <p:cNvSpPr/>
          <p:nvPr/>
        </p:nvSpPr>
        <p:spPr>
          <a:xfrm>
            <a:off x="548640" y="3675888"/>
            <a:ext cx="2377440" cy="365760"/>
          </a:xfrm>
          <a:prstGeom prst="rect">
            <a:avLst/>
          </a:prstGeom>
          <a:noFill/>
          <a:ln/>
        </p:spPr>
        <p:txBody>
          <a:bodyPr wrap="square" rtlCol="0" anchor="ctr"/>
          <a:lstStyle/>
          <a:p>
            <a:pPr indent="0" marL="0">
              <a:buNone/>
            </a:pPr>
            <a:r>
              <a:rPr lang="en-US" sz="1100" b="1" dirty="0">
                <a:solidFill>
                  <a:srgbClr val="F2EFE9"/>
                </a:solidFill>
                <a:latin typeface="Arial" pitchFamily="34" charset="0"/>
                <a:ea typeface="Arial" pitchFamily="34" charset="-122"/>
                <a:cs typeface="Arial" pitchFamily="34" charset="-120"/>
              </a:rPr>
              <a:t>Income statement with drilldown</a:t>
            </a:r>
            <a:endParaRPr lang="en-US" sz="1100" dirty="0"/>
          </a:p>
        </p:txBody>
      </p:sp>
      <p:sp>
        <p:nvSpPr>
          <p:cNvPr id="14" name="Shape 12"/>
          <p:cNvSpPr/>
          <p:nvPr/>
        </p:nvSpPr>
        <p:spPr>
          <a:xfrm>
            <a:off x="3566160" y="3630168"/>
            <a:ext cx="2377440" cy="457200"/>
          </a:xfrm>
          <a:prstGeom prst="rect">
            <a:avLst/>
          </a:prstGeom>
          <a:solidFill>
            <a:srgbClr val="181818"/>
          </a:solidFill>
          <a:ln/>
        </p:spPr>
      </p:sp>
      <p:sp>
        <p:nvSpPr>
          <p:cNvPr id="15" name="Text 13"/>
          <p:cNvSpPr/>
          <p:nvPr/>
        </p:nvSpPr>
        <p:spPr>
          <a:xfrm>
            <a:off x="3657600" y="3675888"/>
            <a:ext cx="2194560" cy="3657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Category summary only</a:t>
            </a:r>
            <a:endParaRPr lang="en-US" sz="1100" dirty="0"/>
          </a:p>
        </p:txBody>
      </p:sp>
      <p:sp>
        <p:nvSpPr>
          <p:cNvPr id="16" name="Shape 14"/>
          <p:cNvSpPr/>
          <p:nvPr/>
        </p:nvSpPr>
        <p:spPr>
          <a:xfrm>
            <a:off x="6035040" y="3630168"/>
            <a:ext cx="2880360" cy="457200"/>
          </a:xfrm>
          <a:prstGeom prst="rect">
            <a:avLst/>
          </a:prstGeom>
          <a:solidFill>
            <a:srgbClr val="181818"/>
          </a:solidFill>
          <a:ln/>
        </p:spPr>
      </p:sp>
      <p:sp>
        <p:nvSpPr>
          <p:cNvPr id="17" name="Text 15"/>
          <p:cNvSpPr/>
          <p:nvPr/>
        </p:nvSpPr>
        <p:spPr>
          <a:xfrm>
            <a:off x="6126480" y="3675888"/>
            <a:ext cx="2697480" cy="365760"/>
          </a:xfrm>
          <a:prstGeom prst="rect">
            <a:avLst/>
          </a:prstGeom>
          <a:noFill/>
          <a:ln/>
        </p:spPr>
        <p:txBody>
          <a:bodyPr wrap="square" rtlCol="0" anchor="ctr"/>
          <a:lstStyle/>
          <a:p>
            <a:pPr indent="0" marL="0">
              <a:buNone/>
            </a:pPr>
            <a:r>
              <a:rPr lang="en-US" sz="1100" dirty="0">
                <a:solidFill>
                  <a:srgbClr val="2DD4BF"/>
                </a:solidFill>
                <a:latin typeface="Arial" pitchFamily="34" charset="0"/>
                <a:ea typeface="Arial" pitchFamily="34" charset="-122"/>
                <a:cs typeface="Arial" pitchFamily="34" charset="-120"/>
              </a:rPr>
              <a:t>Section → Bucket → Transaction → Item detail</a:t>
            </a:r>
            <a:endParaRPr lang="en-US" sz="1100" dirty="0"/>
          </a:p>
        </p:txBody>
      </p:sp>
      <p:sp>
        <p:nvSpPr>
          <p:cNvPr id="18" name="Shape 16"/>
          <p:cNvSpPr/>
          <p:nvPr/>
        </p:nvSpPr>
        <p:spPr>
          <a:xfrm>
            <a:off x="457200" y="4105656"/>
            <a:ext cx="2560320" cy="457200"/>
          </a:xfrm>
          <a:prstGeom prst="rect">
            <a:avLst/>
          </a:prstGeom>
          <a:solidFill>
            <a:srgbClr val="1C1C1C"/>
          </a:solidFill>
          <a:ln/>
        </p:spPr>
      </p:sp>
      <p:sp>
        <p:nvSpPr>
          <p:cNvPr id="19" name="Text 17"/>
          <p:cNvSpPr/>
          <p:nvPr/>
        </p:nvSpPr>
        <p:spPr>
          <a:xfrm>
            <a:off x="548640" y="4151376"/>
            <a:ext cx="2377440" cy="365760"/>
          </a:xfrm>
          <a:prstGeom prst="rect">
            <a:avLst/>
          </a:prstGeom>
          <a:noFill/>
          <a:ln/>
        </p:spPr>
        <p:txBody>
          <a:bodyPr wrap="square" rtlCol="0" anchor="ctr"/>
          <a:lstStyle/>
          <a:p>
            <a:pPr indent="0" marL="0">
              <a:buNone/>
            </a:pPr>
            <a:r>
              <a:rPr lang="en-US" sz="1100" b="1" dirty="0">
                <a:solidFill>
                  <a:srgbClr val="F2EFE9"/>
                </a:solidFill>
                <a:latin typeface="Arial" pitchFamily="34" charset="0"/>
                <a:ea typeface="Arial" pitchFamily="34" charset="-122"/>
                <a:cs typeface="Arial" pitchFamily="34" charset="-120"/>
              </a:rPr>
              <a:t>Balance sheet comparison</a:t>
            </a:r>
            <a:endParaRPr lang="en-US" sz="1100" dirty="0"/>
          </a:p>
        </p:txBody>
      </p:sp>
      <p:sp>
        <p:nvSpPr>
          <p:cNvPr id="20" name="Shape 18"/>
          <p:cNvSpPr/>
          <p:nvPr/>
        </p:nvSpPr>
        <p:spPr>
          <a:xfrm>
            <a:off x="3566160" y="4105656"/>
            <a:ext cx="2377440" cy="457200"/>
          </a:xfrm>
          <a:prstGeom prst="rect">
            <a:avLst/>
          </a:prstGeom>
          <a:solidFill>
            <a:srgbClr val="1C1C1C"/>
          </a:solidFill>
          <a:ln/>
        </p:spPr>
      </p:sp>
      <p:sp>
        <p:nvSpPr>
          <p:cNvPr id="21" name="Text 19"/>
          <p:cNvSpPr/>
          <p:nvPr/>
        </p:nvSpPr>
        <p:spPr>
          <a:xfrm>
            <a:off x="3657600" y="4151376"/>
            <a:ext cx="2194560" cy="3657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Point-in-time snapshot</a:t>
            </a:r>
            <a:endParaRPr lang="en-US" sz="1100" dirty="0"/>
          </a:p>
        </p:txBody>
      </p:sp>
      <p:sp>
        <p:nvSpPr>
          <p:cNvPr id="22" name="Shape 20"/>
          <p:cNvSpPr/>
          <p:nvPr/>
        </p:nvSpPr>
        <p:spPr>
          <a:xfrm>
            <a:off x="6035040" y="4105656"/>
            <a:ext cx="2880360" cy="457200"/>
          </a:xfrm>
          <a:prstGeom prst="rect">
            <a:avLst/>
          </a:prstGeom>
          <a:solidFill>
            <a:srgbClr val="1C1C1C"/>
          </a:solidFill>
          <a:ln/>
        </p:spPr>
      </p:sp>
      <p:sp>
        <p:nvSpPr>
          <p:cNvPr id="23" name="Text 21"/>
          <p:cNvSpPr/>
          <p:nvPr/>
        </p:nvSpPr>
        <p:spPr>
          <a:xfrm>
            <a:off x="6126480" y="4151376"/>
            <a:ext cx="2697480" cy="365760"/>
          </a:xfrm>
          <a:prstGeom prst="rect">
            <a:avLst/>
          </a:prstGeom>
          <a:noFill/>
          <a:ln/>
        </p:spPr>
        <p:txBody>
          <a:bodyPr wrap="square" rtlCol="0" anchor="ctr"/>
          <a:lstStyle/>
          <a:p>
            <a:pPr indent="0" marL="0">
              <a:buNone/>
            </a:pPr>
            <a:r>
              <a:rPr lang="en-US" sz="1100" dirty="0">
                <a:solidFill>
                  <a:srgbClr val="2DD4BF"/>
                </a:solidFill>
                <a:latin typeface="Arial" pitchFamily="34" charset="0"/>
                <a:ea typeface="Arial" pitchFamily="34" charset="-122"/>
                <a:cs typeface="Arial" pitchFamily="34" charset="-120"/>
              </a:rPr>
              <a:t>Any historical period, auto-populating dropdown</a:t>
            </a:r>
            <a:endParaRPr lang="en-US" sz="1100" dirty="0"/>
          </a:p>
        </p:txBody>
      </p:sp>
      <p:sp>
        <p:nvSpPr>
          <p:cNvPr id="24" name="Shape 22"/>
          <p:cNvSpPr/>
          <p:nvPr/>
        </p:nvSpPr>
        <p:spPr>
          <a:xfrm>
            <a:off x="457200" y="4581144"/>
            <a:ext cx="2560320" cy="457200"/>
          </a:xfrm>
          <a:prstGeom prst="rect">
            <a:avLst/>
          </a:prstGeom>
          <a:solidFill>
            <a:srgbClr val="181818"/>
          </a:solidFill>
          <a:ln/>
        </p:spPr>
      </p:sp>
      <p:sp>
        <p:nvSpPr>
          <p:cNvPr id="25" name="Text 23"/>
          <p:cNvSpPr/>
          <p:nvPr/>
        </p:nvSpPr>
        <p:spPr>
          <a:xfrm>
            <a:off x="548640" y="4626864"/>
            <a:ext cx="2377440" cy="365760"/>
          </a:xfrm>
          <a:prstGeom prst="rect">
            <a:avLst/>
          </a:prstGeom>
          <a:noFill/>
          <a:ln/>
        </p:spPr>
        <p:txBody>
          <a:bodyPr wrap="square" rtlCol="0" anchor="ctr"/>
          <a:lstStyle/>
          <a:p>
            <a:pPr indent="0" marL="0">
              <a:buNone/>
            </a:pPr>
            <a:r>
              <a:rPr lang="en-US" sz="1100" b="1" dirty="0">
                <a:solidFill>
                  <a:srgbClr val="F2EFE9"/>
                </a:solidFill>
                <a:latin typeface="Arial" pitchFamily="34" charset="0"/>
                <a:ea typeface="Arial" pitchFamily="34" charset="-122"/>
                <a:cs typeface="Arial" pitchFamily="34" charset="-120"/>
              </a:rPr>
              <a:t>Cash flow waterfall</a:t>
            </a:r>
            <a:endParaRPr lang="en-US" sz="1100" dirty="0"/>
          </a:p>
        </p:txBody>
      </p:sp>
      <p:sp>
        <p:nvSpPr>
          <p:cNvPr id="26" name="Shape 24"/>
          <p:cNvSpPr/>
          <p:nvPr/>
        </p:nvSpPr>
        <p:spPr>
          <a:xfrm>
            <a:off x="3566160" y="4581144"/>
            <a:ext cx="2377440" cy="457200"/>
          </a:xfrm>
          <a:prstGeom prst="rect">
            <a:avLst/>
          </a:prstGeom>
          <a:solidFill>
            <a:srgbClr val="181818"/>
          </a:solidFill>
          <a:ln/>
        </p:spPr>
      </p:sp>
      <p:sp>
        <p:nvSpPr>
          <p:cNvPr id="27" name="Text 25"/>
          <p:cNvSpPr/>
          <p:nvPr/>
        </p:nvSpPr>
        <p:spPr>
          <a:xfrm>
            <a:off x="3657600" y="4626864"/>
            <a:ext cx="2194560" cy="3657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Not available</a:t>
            </a:r>
            <a:endParaRPr lang="en-US" sz="1100" dirty="0"/>
          </a:p>
        </p:txBody>
      </p:sp>
      <p:sp>
        <p:nvSpPr>
          <p:cNvPr id="28" name="Shape 26"/>
          <p:cNvSpPr/>
          <p:nvPr/>
        </p:nvSpPr>
        <p:spPr>
          <a:xfrm>
            <a:off x="6035040" y="4581144"/>
            <a:ext cx="2880360" cy="457200"/>
          </a:xfrm>
          <a:prstGeom prst="rect">
            <a:avLst/>
          </a:prstGeom>
          <a:solidFill>
            <a:srgbClr val="181818"/>
          </a:solidFill>
          <a:ln/>
        </p:spPr>
      </p:sp>
      <p:sp>
        <p:nvSpPr>
          <p:cNvPr id="29" name="Text 27"/>
          <p:cNvSpPr/>
          <p:nvPr/>
        </p:nvSpPr>
        <p:spPr>
          <a:xfrm>
            <a:off x="6126480" y="4626864"/>
            <a:ext cx="2697480" cy="365760"/>
          </a:xfrm>
          <a:prstGeom prst="rect">
            <a:avLst/>
          </a:prstGeom>
          <a:noFill/>
          <a:ln/>
        </p:spPr>
        <p:txBody>
          <a:bodyPr wrap="square" rtlCol="0" anchor="ctr"/>
          <a:lstStyle/>
          <a:p>
            <a:pPr indent="0" marL="0">
              <a:buNone/>
            </a:pPr>
            <a:r>
              <a:rPr lang="en-US" sz="1100" dirty="0">
                <a:solidFill>
                  <a:srgbClr val="2DD4BF"/>
                </a:solidFill>
                <a:latin typeface="Arial" pitchFamily="34" charset="0"/>
                <a:ea typeface="Arial" pitchFamily="34" charset="-122"/>
                <a:cs typeface="Arial" pitchFamily="34" charset="-120"/>
              </a:rPr>
              <a:t>Income → each category → Net with live tooltips</a:t>
            </a:r>
            <a:endParaRPr lang="en-US" sz="1100" dirty="0"/>
          </a:p>
        </p:txBody>
      </p:sp>
      <p:sp>
        <p:nvSpPr>
          <p:cNvPr id="30" name="Shape 28"/>
          <p:cNvSpPr/>
          <p:nvPr/>
        </p:nvSpPr>
        <p:spPr>
          <a:xfrm>
            <a:off x="457200" y="5056632"/>
            <a:ext cx="2560320" cy="457200"/>
          </a:xfrm>
          <a:prstGeom prst="rect">
            <a:avLst/>
          </a:prstGeom>
          <a:solidFill>
            <a:srgbClr val="1C1C1C"/>
          </a:solidFill>
          <a:ln/>
        </p:spPr>
      </p:sp>
      <p:sp>
        <p:nvSpPr>
          <p:cNvPr id="31" name="Text 29"/>
          <p:cNvSpPr/>
          <p:nvPr/>
        </p:nvSpPr>
        <p:spPr>
          <a:xfrm>
            <a:off x="548640" y="5102352"/>
            <a:ext cx="2377440" cy="365760"/>
          </a:xfrm>
          <a:prstGeom prst="rect">
            <a:avLst/>
          </a:prstGeom>
          <a:noFill/>
          <a:ln/>
        </p:spPr>
        <p:txBody>
          <a:bodyPr wrap="square" rtlCol="0" anchor="ctr"/>
          <a:lstStyle/>
          <a:p>
            <a:pPr indent="0" marL="0">
              <a:buNone/>
            </a:pPr>
            <a:r>
              <a:rPr lang="en-US" sz="1100" b="1" dirty="0">
                <a:solidFill>
                  <a:srgbClr val="F2EFE9"/>
                </a:solidFill>
                <a:latin typeface="Arial" pitchFamily="34" charset="0"/>
                <a:ea typeface="Arial" pitchFamily="34" charset="-122"/>
                <a:cs typeface="Arial" pitchFamily="34" charset="-120"/>
              </a:rPr>
              <a:t>Merchant unmasking</a:t>
            </a:r>
            <a:endParaRPr lang="en-US" sz="1100" dirty="0"/>
          </a:p>
        </p:txBody>
      </p:sp>
      <p:sp>
        <p:nvSpPr>
          <p:cNvPr id="32" name="Shape 30"/>
          <p:cNvSpPr/>
          <p:nvPr/>
        </p:nvSpPr>
        <p:spPr>
          <a:xfrm>
            <a:off x="3566160" y="5056632"/>
            <a:ext cx="2377440" cy="457200"/>
          </a:xfrm>
          <a:prstGeom prst="rect">
            <a:avLst/>
          </a:prstGeom>
          <a:solidFill>
            <a:srgbClr val="1C1C1C"/>
          </a:solidFill>
          <a:ln/>
        </p:spPr>
      </p:sp>
      <p:sp>
        <p:nvSpPr>
          <p:cNvPr id="33" name="Text 31"/>
          <p:cNvSpPr/>
          <p:nvPr/>
        </p:nvSpPr>
        <p:spPr>
          <a:xfrm>
            <a:off x="3657600" y="5102352"/>
            <a:ext cx="2194560" cy="3657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Not available</a:t>
            </a:r>
            <a:endParaRPr lang="en-US" sz="1100" dirty="0"/>
          </a:p>
        </p:txBody>
      </p:sp>
      <p:sp>
        <p:nvSpPr>
          <p:cNvPr id="34" name="Shape 32"/>
          <p:cNvSpPr/>
          <p:nvPr/>
        </p:nvSpPr>
        <p:spPr>
          <a:xfrm>
            <a:off x="6035040" y="5056632"/>
            <a:ext cx="2880360" cy="457200"/>
          </a:xfrm>
          <a:prstGeom prst="rect">
            <a:avLst/>
          </a:prstGeom>
          <a:solidFill>
            <a:srgbClr val="1C1C1C"/>
          </a:solidFill>
          <a:ln/>
        </p:spPr>
      </p:sp>
      <p:sp>
        <p:nvSpPr>
          <p:cNvPr id="35" name="Text 33"/>
          <p:cNvSpPr/>
          <p:nvPr/>
        </p:nvSpPr>
        <p:spPr>
          <a:xfrm>
            <a:off x="6126480" y="5102352"/>
            <a:ext cx="2697480" cy="365760"/>
          </a:xfrm>
          <a:prstGeom prst="rect">
            <a:avLst/>
          </a:prstGeom>
          <a:noFill/>
          <a:ln/>
        </p:spPr>
        <p:txBody>
          <a:bodyPr wrap="square" rtlCol="0" anchor="ctr"/>
          <a:lstStyle/>
          <a:p>
            <a:pPr indent="0" marL="0">
              <a:buNone/>
            </a:pPr>
            <a:r>
              <a:rPr lang="en-US" sz="1100" dirty="0">
                <a:solidFill>
                  <a:srgbClr val="2DD4BF"/>
                </a:solidFill>
                <a:latin typeface="Arial" pitchFamily="34" charset="0"/>
                <a:ea typeface="Arial" pitchFamily="34" charset="-122"/>
                <a:cs typeface="Arial" pitchFamily="34" charset="-120"/>
              </a:rPr>
              <a:t>Amazon items, Apple Card descriptions, Venmo notes</a:t>
            </a:r>
            <a:endParaRPr lang="en-US" sz="1100" dirty="0"/>
          </a:p>
        </p:txBody>
      </p:sp>
      <p:sp>
        <p:nvSpPr>
          <p:cNvPr id="36" name="Shape 34"/>
          <p:cNvSpPr/>
          <p:nvPr/>
        </p:nvSpPr>
        <p:spPr>
          <a:xfrm>
            <a:off x="457200" y="5532120"/>
            <a:ext cx="2560320" cy="457200"/>
          </a:xfrm>
          <a:prstGeom prst="rect">
            <a:avLst/>
          </a:prstGeom>
          <a:solidFill>
            <a:srgbClr val="181818"/>
          </a:solidFill>
          <a:ln/>
        </p:spPr>
      </p:sp>
      <p:sp>
        <p:nvSpPr>
          <p:cNvPr id="37" name="Text 35"/>
          <p:cNvSpPr/>
          <p:nvPr/>
        </p:nvSpPr>
        <p:spPr>
          <a:xfrm>
            <a:off x="548640" y="5577840"/>
            <a:ext cx="2377440" cy="365760"/>
          </a:xfrm>
          <a:prstGeom prst="rect">
            <a:avLst/>
          </a:prstGeom>
          <a:noFill/>
          <a:ln/>
        </p:spPr>
        <p:txBody>
          <a:bodyPr wrap="square" rtlCol="0" anchor="ctr"/>
          <a:lstStyle/>
          <a:p>
            <a:pPr indent="0" marL="0">
              <a:buNone/>
            </a:pPr>
            <a:r>
              <a:rPr lang="en-US" sz="1100" b="1" dirty="0">
                <a:solidFill>
                  <a:srgbClr val="F2EFE9"/>
                </a:solidFill>
                <a:latin typeface="Arial" pitchFamily="34" charset="0"/>
                <a:ea typeface="Arial" pitchFamily="34" charset="-122"/>
                <a:cs typeface="Arial" pitchFamily="34" charset="-120"/>
              </a:rPr>
              <a:t>Purchaser attribution</a:t>
            </a:r>
            <a:endParaRPr lang="en-US" sz="1100" dirty="0"/>
          </a:p>
        </p:txBody>
      </p:sp>
      <p:sp>
        <p:nvSpPr>
          <p:cNvPr id="38" name="Shape 36"/>
          <p:cNvSpPr/>
          <p:nvPr/>
        </p:nvSpPr>
        <p:spPr>
          <a:xfrm>
            <a:off x="3566160" y="5532120"/>
            <a:ext cx="2377440" cy="457200"/>
          </a:xfrm>
          <a:prstGeom prst="rect">
            <a:avLst/>
          </a:prstGeom>
          <a:solidFill>
            <a:srgbClr val="181818"/>
          </a:solidFill>
          <a:ln/>
        </p:spPr>
      </p:sp>
      <p:sp>
        <p:nvSpPr>
          <p:cNvPr id="39" name="Text 37"/>
          <p:cNvSpPr/>
          <p:nvPr/>
        </p:nvSpPr>
        <p:spPr>
          <a:xfrm>
            <a:off x="3657600" y="5577840"/>
            <a:ext cx="2194560" cy="3657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Account-level only</a:t>
            </a:r>
            <a:endParaRPr lang="en-US" sz="1100" dirty="0"/>
          </a:p>
        </p:txBody>
      </p:sp>
      <p:sp>
        <p:nvSpPr>
          <p:cNvPr id="40" name="Shape 38"/>
          <p:cNvSpPr/>
          <p:nvPr/>
        </p:nvSpPr>
        <p:spPr>
          <a:xfrm>
            <a:off x="6035040" y="5532120"/>
            <a:ext cx="2880360" cy="457200"/>
          </a:xfrm>
          <a:prstGeom prst="rect">
            <a:avLst/>
          </a:prstGeom>
          <a:solidFill>
            <a:srgbClr val="181818"/>
          </a:solidFill>
          <a:ln/>
        </p:spPr>
      </p:sp>
      <p:sp>
        <p:nvSpPr>
          <p:cNvPr id="41" name="Text 39"/>
          <p:cNvSpPr/>
          <p:nvPr/>
        </p:nvSpPr>
        <p:spPr>
          <a:xfrm>
            <a:off x="6126480" y="5577840"/>
            <a:ext cx="2697480" cy="365760"/>
          </a:xfrm>
          <a:prstGeom prst="rect">
            <a:avLst/>
          </a:prstGeom>
          <a:noFill/>
          <a:ln/>
        </p:spPr>
        <p:txBody>
          <a:bodyPr wrap="square" rtlCol="0" anchor="ctr"/>
          <a:lstStyle/>
          <a:p>
            <a:pPr indent="0" marL="0">
              <a:buNone/>
            </a:pPr>
            <a:r>
              <a:rPr lang="en-US" sz="1100" dirty="0">
                <a:solidFill>
                  <a:srgbClr val="2DD4BF"/>
                </a:solidFill>
                <a:latin typeface="Arial" pitchFamily="34" charset="0"/>
                <a:ea typeface="Arial" pitchFamily="34" charset="-122"/>
                <a:cs typeface="Arial" pitchFamily="34" charset="-120"/>
              </a:rPr>
              <a:t>Per-family-member across all accounts</a:t>
            </a:r>
            <a:endParaRPr lang="en-US" sz="1100" dirty="0"/>
          </a:p>
        </p:txBody>
      </p:sp>
      <p:sp>
        <p:nvSpPr>
          <p:cNvPr id="42" name="Shape 40"/>
          <p:cNvSpPr/>
          <p:nvPr/>
        </p:nvSpPr>
        <p:spPr>
          <a:xfrm>
            <a:off x="457200" y="6007608"/>
            <a:ext cx="2560320" cy="457200"/>
          </a:xfrm>
          <a:prstGeom prst="rect">
            <a:avLst/>
          </a:prstGeom>
          <a:solidFill>
            <a:srgbClr val="1C1C1C"/>
          </a:solidFill>
          <a:ln/>
        </p:spPr>
      </p:sp>
      <p:sp>
        <p:nvSpPr>
          <p:cNvPr id="43" name="Text 41"/>
          <p:cNvSpPr/>
          <p:nvPr/>
        </p:nvSpPr>
        <p:spPr>
          <a:xfrm>
            <a:off x="548640" y="6053328"/>
            <a:ext cx="2377440" cy="365760"/>
          </a:xfrm>
          <a:prstGeom prst="rect">
            <a:avLst/>
          </a:prstGeom>
          <a:noFill/>
          <a:ln/>
        </p:spPr>
        <p:txBody>
          <a:bodyPr wrap="square" rtlCol="0" anchor="ctr"/>
          <a:lstStyle/>
          <a:p>
            <a:pPr indent="0" marL="0">
              <a:buNone/>
            </a:pPr>
            <a:r>
              <a:rPr lang="en-US" sz="1100" b="1" dirty="0">
                <a:solidFill>
                  <a:srgbClr val="F2EFE9"/>
                </a:solidFill>
                <a:latin typeface="Arial" pitchFamily="34" charset="0"/>
                <a:ea typeface="Arial" pitchFamily="34" charset="-122"/>
                <a:cs typeface="Arial" pitchFamily="34" charset="-120"/>
              </a:rPr>
              <a:t>AI analysis</a:t>
            </a:r>
            <a:endParaRPr lang="en-US" sz="1100" dirty="0"/>
          </a:p>
        </p:txBody>
      </p:sp>
      <p:sp>
        <p:nvSpPr>
          <p:cNvPr id="44" name="Shape 42"/>
          <p:cNvSpPr/>
          <p:nvPr/>
        </p:nvSpPr>
        <p:spPr>
          <a:xfrm>
            <a:off x="3566160" y="6007608"/>
            <a:ext cx="2377440" cy="457200"/>
          </a:xfrm>
          <a:prstGeom prst="rect">
            <a:avLst/>
          </a:prstGeom>
          <a:solidFill>
            <a:srgbClr val="1C1C1C"/>
          </a:solidFill>
          <a:ln/>
        </p:spPr>
      </p:sp>
      <p:sp>
        <p:nvSpPr>
          <p:cNvPr id="45" name="Text 43"/>
          <p:cNvSpPr/>
          <p:nvPr/>
        </p:nvSpPr>
        <p:spPr>
          <a:xfrm>
            <a:off x="3657600" y="6053328"/>
            <a:ext cx="2194560" cy="36576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Not available</a:t>
            </a:r>
            <a:endParaRPr lang="en-US" sz="1100" dirty="0"/>
          </a:p>
        </p:txBody>
      </p:sp>
      <p:sp>
        <p:nvSpPr>
          <p:cNvPr id="46" name="Shape 44"/>
          <p:cNvSpPr/>
          <p:nvPr/>
        </p:nvSpPr>
        <p:spPr>
          <a:xfrm>
            <a:off x="6035040" y="6007608"/>
            <a:ext cx="2880360" cy="457200"/>
          </a:xfrm>
          <a:prstGeom prst="rect">
            <a:avLst/>
          </a:prstGeom>
          <a:solidFill>
            <a:srgbClr val="1C1C1C"/>
          </a:solidFill>
          <a:ln/>
        </p:spPr>
      </p:sp>
      <p:sp>
        <p:nvSpPr>
          <p:cNvPr id="47" name="Text 45"/>
          <p:cNvSpPr/>
          <p:nvPr/>
        </p:nvSpPr>
        <p:spPr>
          <a:xfrm>
            <a:off x="6126480" y="6053328"/>
            <a:ext cx="2697480" cy="365760"/>
          </a:xfrm>
          <a:prstGeom prst="rect">
            <a:avLst/>
          </a:prstGeom>
          <a:noFill/>
          <a:ln/>
        </p:spPr>
        <p:txBody>
          <a:bodyPr wrap="square" rtlCol="0" anchor="ctr"/>
          <a:lstStyle/>
          <a:p>
            <a:pPr indent="0" marL="0">
              <a:buNone/>
            </a:pPr>
            <a:r>
              <a:rPr lang="en-US" sz="1100" dirty="0">
                <a:solidFill>
                  <a:srgbClr val="2DD4BF"/>
                </a:solidFill>
                <a:latin typeface="Arial" pitchFamily="34" charset="0"/>
                <a:ea typeface="Arial" pitchFamily="34" charset="-122"/>
                <a:cs typeface="Arial" pitchFamily="34" charset="-120"/>
              </a:rPr>
              <a:t>Anomaly detection, budget drift, Ask $id chat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274320"/>
            <a:ext cx="5486400" cy="256032"/>
          </a:xfrm>
          <a:prstGeom prst="rect">
            <a:avLst/>
          </a:prstGeom>
          <a:noFill/>
          <a:ln/>
        </p:spPr>
        <p:txBody>
          <a:bodyPr wrap="square" rtlCol="0" anchor="ctr"/>
          <a:lstStyle/>
          <a:p>
            <a:pPr algn="l" indent="0" marL="0">
              <a:buNone/>
            </a:pPr>
            <a:r>
              <a:rPr lang="en-US" sz="900" spc="300" kern="0" dirty="0">
                <a:solidFill>
                  <a:srgbClr val="F5A800"/>
                </a:solidFill>
                <a:latin typeface="Courier New" pitchFamily="34" charset="0"/>
                <a:ea typeface="Courier New" pitchFamily="34" charset="-122"/>
                <a:cs typeface="Courier New" pitchFamily="34" charset="-120"/>
              </a:rPr>
              <a:t>THE PROPOSAL</a:t>
            </a:r>
            <a:endParaRPr lang="en-US" sz="900" dirty="0"/>
          </a:p>
        </p:txBody>
      </p:sp>
      <p:sp>
        <p:nvSpPr>
          <p:cNvPr id="3" name="Text 1"/>
          <p:cNvSpPr/>
          <p:nvPr/>
        </p:nvSpPr>
        <p:spPr>
          <a:xfrm>
            <a:off x="457200" y="411480"/>
            <a:ext cx="11247120" cy="1645920"/>
          </a:xfrm>
          <a:prstGeom prst="rect">
            <a:avLst/>
          </a:prstGeom>
          <a:noFill/>
          <a:ln/>
        </p:spPr>
        <p:txBody>
          <a:bodyPr wrap="square" rtlCol="0" anchor="t"/>
          <a:lstStyle/>
          <a:p>
            <a:pPr algn="l" indent="0" marL="0">
              <a:buNone/>
            </a:pPr>
            <a:r>
              <a:rPr lang="en-US" sz="3000" b="1" dirty="0">
                <a:solidFill>
                  <a:srgbClr val="F2EFE9"/>
                </a:solidFill>
                <a:latin typeface="Georgia" pitchFamily="34" charset="0"/>
                <a:ea typeface="Georgia" pitchFamily="34" charset="-122"/>
                <a:cs typeface="Georgia" pitchFamily="34" charset="-120"/>
              </a:rPr>
              <a:t>Three ways to bring Forge</a:t>
            </a:r>
            <a:endParaRPr lang="en-US" sz="3000" dirty="0"/>
          </a:p>
          <a:p>
            <a:pPr algn="l" indent="0" marL="0">
              <a:buNone/>
            </a:pPr>
            <a:r>
              <a:rPr lang="en-US" sz="3000" b="1" dirty="0">
                <a:solidFill>
                  <a:srgbClr val="F2EFE9"/>
                </a:solidFill>
                <a:latin typeface="Georgia" pitchFamily="34" charset="0"/>
                <a:ea typeface="Georgia" pitchFamily="34" charset="-122"/>
                <a:cs typeface="Georgia" pitchFamily="34" charset="-120"/>
              </a:rPr>
              <a:t>into the Quicken product line.</a:t>
            </a:r>
            <a:endParaRPr lang="en-US" sz="3000" dirty="0"/>
          </a:p>
        </p:txBody>
      </p:sp>
      <p:sp>
        <p:nvSpPr>
          <p:cNvPr id="4" name="Shape 2"/>
          <p:cNvSpPr/>
          <p:nvPr/>
        </p:nvSpPr>
        <p:spPr>
          <a:xfrm>
            <a:off x="457200" y="1965960"/>
            <a:ext cx="11247120" cy="0"/>
          </a:xfrm>
          <a:prstGeom prst="line">
            <a:avLst/>
          </a:prstGeom>
          <a:noFill/>
          <a:ln w="19050">
            <a:solidFill>
              <a:srgbClr val="F5A800"/>
            </a:solidFill>
            <a:prstDash val="solid"/>
          </a:ln>
        </p:spPr>
      </p:sp>
      <p:sp>
        <p:nvSpPr>
          <p:cNvPr id="5" name="Shape 3"/>
          <p:cNvSpPr/>
          <p:nvPr/>
        </p:nvSpPr>
        <p:spPr>
          <a:xfrm>
            <a:off x="457200" y="2103120"/>
            <a:ext cx="3566160" cy="4480560"/>
          </a:xfrm>
          <a:prstGeom prst="rect">
            <a:avLst/>
          </a:prstGeom>
          <a:solidFill>
            <a:srgbClr val="1C1C1C"/>
          </a:solidFill>
          <a:ln w="6350">
            <a:solidFill>
              <a:srgbClr val="2A2A2A"/>
            </a:solidFill>
            <a:prstDash val="solid"/>
          </a:ln>
        </p:spPr>
      </p:sp>
      <p:sp>
        <p:nvSpPr>
          <p:cNvPr id="6" name="Shape 4"/>
          <p:cNvSpPr/>
          <p:nvPr/>
        </p:nvSpPr>
        <p:spPr>
          <a:xfrm>
            <a:off x="457200" y="2103120"/>
            <a:ext cx="3566160" cy="54864"/>
          </a:xfrm>
          <a:prstGeom prst="rect">
            <a:avLst/>
          </a:prstGeom>
          <a:solidFill>
            <a:srgbClr val="60A5FA"/>
          </a:solidFill>
          <a:ln/>
        </p:spPr>
      </p:sp>
      <p:sp>
        <p:nvSpPr>
          <p:cNvPr id="7" name="Text 5"/>
          <p:cNvSpPr/>
          <p:nvPr/>
        </p:nvSpPr>
        <p:spPr>
          <a:xfrm>
            <a:off x="640080" y="2240280"/>
            <a:ext cx="914400" cy="457200"/>
          </a:xfrm>
          <a:prstGeom prst="rect">
            <a:avLst/>
          </a:prstGeom>
          <a:noFill/>
          <a:ln/>
        </p:spPr>
        <p:txBody>
          <a:bodyPr wrap="square" rtlCol="0" anchor="ctr"/>
          <a:lstStyle/>
          <a:p>
            <a:pPr indent="0" marL="0">
              <a:buNone/>
            </a:pPr>
            <a:r>
              <a:rPr lang="en-US" sz="2000" b="1" dirty="0">
                <a:solidFill>
                  <a:srgbClr val="60A5FA"/>
                </a:solidFill>
                <a:latin typeface="Courier New" pitchFamily="34" charset="0"/>
                <a:ea typeface="Courier New" pitchFamily="34" charset="-122"/>
                <a:cs typeface="Courier New" pitchFamily="34" charset="-120"/>
              </a:rPr>
              <a:t>01</a:t>
            </a:r>
            <a:endParaRPr lang="en-US" sz="2000" dirty="0"/>
          </a:p>
        </p:txBody>
      </p:sp>
      <p:sp>
        <p:nvSpPr>
          <p:cNvPr id="8" name="Text 6"/>
          <p:cNvSpPr/>
          <p:nvPr/>
        </p:nvSpPr>
        <p:spPr>
          <a:xfrm>
            <a:off x="640080" y="2651760"/>
            <a:ext cx="3200400" cy="457200"/>
          </a:xfrm>
          <a:prstGeom prst="rect">
            <a:avLst/>
          </a:prstGeom>
          <a:noFill/>
          <a:ln/>
        </p:spPr>
        <p:txBody>
          <a:bodyPr wrap="square" rtlCol="0" anchor="ctr"/>
          <a:lstStyle/>
          <a:p>
            <a:pPr indent="0" marL="0">
              <a:buNone/>
            </a:pPr>
            <a:r>
              <a:rPr lang="en-US" sz="2400" b="1" dirty="0">
                <a:solidFill>
                  <a:srgbClr val="F2EFE9"/>
                </a:solidFill>
                <a:latin typeface="Georgia" pitchFamily="34" charset="0"/>
                <a:ea typeface="Georgia" pitchFamily="34" charset="-122"/>
                <a:cs typeface="Georgia" pitchFamily="34" charset="-120"/>
              </a:rPr>
              <a:t>License</a:t>
            </a:r>
            <a:endParaRPr lang="en-US" sz="2400" dirty="0"/>
          </a:p>
        </p:txBody>
      </p:sp>
      <p:sp>
        <p:nvSpPr>
          <p:cNvPr id="9" name="Text 7"/>
          <p:cNvSpPr/>
          <p:nvPr/>
        </p:nvSpPr>
        <p:spPr>
          <a:xfrm>
            <a:off x="640080" y="3154680"/>
            <a:ext cx="3200400" cy="1463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License Forge's parser layer, classification engine, and chart library as embeddable components. Quicken integrates them into an existing or new reporting module. LukaLab provides integration support and ongoing updates.</a:t>
            </a:r>
            <a:endParaRPr lang="en-US" sz="1100" dirty="0"/>
          </a:p>
        </p:txBody>
      </p:sp>
      <p:sp>
        <p:nvSpPr>
          <p:cNvPr id="10" name="Shape 8"/>
          <p:cNvSpPr/>
          <p:nvPr/>
        </p:nvSpPr>
        <p:spPr>
          <a:xfrm>
            <a:off x="621792" y="4709160"/>
            <a:ext cx="91440" cy="91440"/>
          </a:xfrm>
          <a:prstGeom prst="ellipse">
            <a:avLst/>
          </a:prstGeom>
          <a:solidFill>
            <a:srgbClr val="60A5FA"/>
          </a:solidFill>
          <a:ln/>
        </p:spPr>
      </p:sp>
      <p:sp>
        <p:nvSpPr>
          <p:cNvPr id="11" name="Text 9"/>
          <p:cNvSpPr/>
          <p:nvPr/>
        </p:nvSpPr>
        <p:spPr>
          <a:xfrm>
            <a:off x="777240" y="4663440"/>
            <a:ext cx="3017520" cy="320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Fastest to market</a:t>
            </a:r>
            <a:endParaRPr lang="en-US" sz="1100" dirty="0"/>
          </a:p>
        </p:txBody>
      </p:sp>
      <p:sp>
        <p:nvSpPr>
          <p:cNvPr id="12" name="Shape 10"/>
          <p:cNvSpPr/>
          <p:nvPr/>
        </p:nvSpPr>
        <p:spPr>
          <a:xfrm>
            <a:off x="621792" y="5056632"/>
            <a:ext cx="91440" cy="91440"/>
          </a:xfrm>
          <a:prstGeom prst="ellipse">
            <a:avLst/>
          </a:prstGeom>
          <a:solidFill>
            <a:srgbClr val="60A5FA"/>
          </a:solidFill>
          <a:ln/>
        </p:spPr>
      </p:sp>
      <p:sp>
        <p:nvSpPr>
          <p:cNvPr id="13" name="Text 11"/>
          <p:cNvSpPr/>
          <p:nvPr/>
        </p:nvSpPr>
        <p:spPr>
          <a:xfrm>
            <a:off x="777240" y="5010912"/>
            <a:ext cx="3017520" cy="320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Lowest upfront investment</a:t>
            </a:r>
            <a:endParaRPr lang="en-US" sz="1100" dirty="0"/>
          </a:p>
        </p:txBody>
      </p:sp>
      <p:sp>
        <p:nvSpPr>
          <p:cNvPr id="14" name="Shape 12"/>
          <p:cNvSpPr/>
          <p:nvPr/>
        </p:nvSpPr>
        <p:spPr>
          <a:xfrm>
            <a:off x="621792" y="5404104"/>
            <a:ext cx="91440" cy="91440"/>
          </a:xfrm>
          <a:prstGeom prst="ellipse">
            <a:avLst/>
          </a:prstGeom>
          <a:solidFill>
            <a:srgbClr val="60A5FA"/>
          </a:solidFill>
          <a:ln/>
        </p:spPr>
      </p:sp>
      <p:sp>
        <p:nvSpPr>
          <p:cNvPr id="15" name="Text 13"/>
          <p:cNvSpPr/>
          <p:nvPr/>
        </p:nvSpPr>
        <p:spPr>
          <a:xfrm>
            <a:off x="777240" y="5358384"/>
            <a:ext cx="3017520" cy="320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Proven codebase, 572 automated tests</a:t>
            </a:r>
            <a:endParaRPr lang="en-US" sz="1100" dirty="0"/>
          </a:p>
        </p:txBody>
      </p:sp>
      <p:sp>
        <p:nvSpPr>
          <p:cNvPr id="16" name="Shape 14"/>
          <p:cNvSpPr/>
          <p:nvPr/>
        </p:nvSpPr>
        <p:spPr>
          <a:xfrm>
            <a:off x="4343400" y="2103120"/>
            <a:ext cx="3566160" cy="4480560"/>
          </a:xfrm>
          <a:prstGeom prst="rect">
            <a:avLst/>
          </a:prstGeom>
          <a:solidFill>
            <a:srgbClr val="1C1C1C"/>
          </a:solidFill>
          <a:ln w="6350">
            <a:solidFill>
              <a:srgbClr val="2A2A2A"/>
            </a:solidFill>
            <a:prstDash val="solid"/>
          </a:ln>
        </p:spPr>
      </p:sp>
      <p:sp>
        <p:nvSpPr>
          <p:cNvPr id="17" name="Shape 15"/>
          <p:cNvSpPr/>
          <p:nvPr/>
        </p:nvSpPr>
        <p:spPr>
          <a:xfrm>
            <a:off x="4343400" y="2103120"/>
            <a:ext cx="3566160" cy="54864"/>
          </a:xfrm>
          <a:prstGeom prst="rect">
            <a:avLst/>
          </a:prstGeom>
          <a:solidFill>
            <a:srgbClr val="F5A800"/>
          </a:solidFill>
          <a:ln/>
        </p:spPr>
      </p:sp>
      <p:sp>
        <p:nvSpPr>
          <p:cNvPr id="18" name="Text 16"/>
          <p:cNvSpPr/>
          <p:nvPr/>
        </p:nvSpPr>
        <p:spPr>
          <a:xfrm>
            <a:off x="4526280" y="2240280"/>
            <a:ext cx="914400" cy="457200"/>
          </a:xfrm>
          <a:prstGeom prst="rect">
            <a:avLst/>
          </a:prstGeom>
          <a:noFill/>
          <a:ln/>
        </p:spPr>
        <p:txBody>
          <a:bodyPr wrap="square" rtlCol="0" anchor="ctr"/>
          <a:lstStyle/>
          <a:p>
            <a:pPr indent="0" marL="0">
              <a:buNone/>
            </a:pPr>
            <a:r>
              <a:rPr lang="en-US" sz="2000" b="1" dirty="0">
                <a:solidFill>
                  <a:srgbClr val="F5A800"/>
                </a:solidFill>
                <a:latin typeface="Courier New" pitchFamily="34" charset="0"/>
                <a:ea typeface="Courier New" pitchFamily="34" charset="-122"/>
                <a:cs typeface="Courier New" pitchFamily="34" charset="-120"/>
              </a:rPr>
              <a:t>02</a:t>
            </a:r>
            <a:endParaRPr lang="en-US" sz="2000" dirty="0"/>
          </a:p>
        </p:txBody>
      </p:sp>
      <p:sp>
        <p:nvSpPr>
          <p:cNvPr id="19" name="Text 17"/>
          <p:cNvSpPr/>
          <p:nvPr/>
        </p:nvSpPr>
        <p:spPr>
          <a:xfrm>
            <a:off x="4526280" y="2651760"/>
            <a:ext cx="3200400" cy="457200"/>
          </a:xfrm>
          <a:prstGeom prst="rect">
            <a:avLst/>
          </a:prstGeom>
          <a:noFill/>
          <a:ln/>
        </p:spPr>
        <p:txBody>
          <a:bodyPr wrap="square" rtlCol="0" anchor="ctr"/>
          <a:lstStyle/>
          <a:p>
            <a:pPr indent="0" marL="0">
              <a:buNone/>
            </a:pPr>
            <a:r>
              <a:rPr lang="en-US" sz="2400" b="1" dirty="0">
                <a:solidFill>
                  <a:srgbClr val="F2EFE9"/>
                </a:solidFill>
                <a:latin typeface="Georgia" pitchFamily="34" charset="0"/>
                <a:ea typeface="Georgia" pitchFamily="34" charset="-122"/>
                <a:cs typeface="Georgia" pitchFamily="34" charset="-120"/>
              </a:rPr>
              <a:t>White-Label</a:t>
            </a:r>
            <a:endParaRPr lang="en-US" sz="2400" dirty="0"/>
          </a:p>
        </p:txBody>
      </p:sp>
      <p:sp>
        <p:nvSpPr>
          <p:cNvPr id="20" name="Text 18"/>
          <p:cNvSpPr/>
          <p:nvPr/>
        </p:nvSpPr>
        <p:spPr>
          <a:xfrm>
            <a:off x="4526280" y="3154680"/>
            <a:ext cx="3200400" cy="1463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Ship Forge as "Quicken Analytics" — a companion web app branded under Quicken. Available to Quicken subscribers as a free or premium add-on. Quicken handles distribution; LukaLab maintains the product.</a:t>
            </a:r>
            <a:endParaRPr lang="en-US" sz="1100" dirty="0"/>
          </a:p>
        </p:txBody>
      </p:sp>
      <p:sp>
        <p:nvSpPr>
          <p:cNvPr id="21" name="Shape 19"/>
          <p:cNvSpPr/>
          <p:nvPr/>
        </p:nvSpPr>
        <p:spPr>
          <a:xfrm>
            <a:off x="4507992" y="4709160"/>
            <a:ext cx="91440" cy="91440"/>
          </a:xfrm>
          <a:prstGeom prst="ellipse">
            <a:avLst/>
          </a:prstGeom>
          <a:solidFill>
            <a:srgbClr val="F5A800"/>
          </a:solidFill>
          <a:ln/>
        </p:spPr>
      </p:sp>
      <p:sp>
        <p:nvSpPr>
          <p:cNvPr id="22" name="Text 20"/>
          <p:cNvSpPr/>
          <p:nvPr/>
        </p:nvSpPr>
        <p:spPr>
          <a:xfrm>
            <a:off x="4663440" y="4663440"/>
            <a:ext cx="3017520" cy="320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Zero Quicken engineering required</a:t>
            </a:r>
            <a:endParaRPr lang="en-US" sz="1100" dirty="0"/>
          </a:p>
        </p:txBody>
      </p:sp>
      <p:sp>
        <p:nvSpPr>
          <p:cNvPr id="23" name="Shape 21"/>
          <p:cNvSpPr/>
          <p:nvPr/>
        </p:nvSpPr>
        <p:spPr>
          <a:xfrm>
            <a:off x="4507992" y="5056632"/>
            <a:ext cx="91440" cy="91440"/>
          </a:xfrm>
          <a:prstGeom prst="ellipse">
            <a:avLst/>
          </a:prstGeom>
          <a:solidFill>
            <a:srgbClr val="F5A800"/>
          </a:solidFill>
          <a:ln/>
        </p:spPr>
      </p:sp>
      <p:sp>
        <p:nvSpPr>
          <p:cNvPr id="24" name="Text 22"/>
          <p:cNvSpPr/>
          <p:nvPr/>
        </p:nvSpPr>
        <p:spPr>
          <a:xfrm>
            <a:off x="4663440" y="5010912"/>
            <a:ext cx="3017520" cy="320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Immediate premium tier differentiation</a:t>
            </a:r>
            <a:endParaRPr lang="en-US" sz="1100" dirty="0"/>
          </a:p>
        </p:txBody>
      </p:sp>
      <p:sp>
        <p:nvSpPr>
          <p:cNvPr id="25" name="Shape 23"/>
          <p:cNvSpPr/>
          <p:nvPr/>
        </p:nvSpPr>
        <p:spPr>
          <a:xfrm>
            <a:off x="4507992" y="5404104"/>
            <a:ext cx="91440" cy="91440"/>
          </a:xfrm>
          <a:prstGeom prst="ellipse">
            <a:avLst/>
          </a:prstGeom>
          <a:solidFill>
            <a:srgbClr val="F5A800"/>
          </a:solidFill>
          <a:ln/>
        </p:spPr>
      </p:sp>
      <p:sp>
        <p:nvSpPr>
          <p:cNvPr id="26" name="Text 24"/>
          <p:cNvSpPr/>
          <p:nvPr/>
        </p:nvSpPr>
        <p:spPr>
          <a:xfrm>
            <a:off x="4663440" y="5358384"/>
            <a:ext cx="3017520" cy="320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Keeps users in the Quicken ecosystem</a:t>
            </a:r>
            <a:endParaRPr lang="en-US" sz="1100" dirty="0"/>
          </a:p>
        </p:txBody>
      </p:sp>
      <p:sp>
        <p:nvSpPr>
          <p:cNvPr id="27" name="Shape 25"/>
          <p:cNvSpPr/>
          <p:nvPr/>
        </p:nvSpPr>
        <p:spPr>
          <a:xfrm>
            <a:off x="8229600" y="2103120"/>
            <a:ext cx="3566160" cy="4480560"/>
          </a:xfrm>
          <a:prstGeom prst="rect">
            <a:avLst/>
          </a:prstGeom>
          <a:solidFill>
            <a:srgbClr val="1C1C1C"/>
          </a:solidFill>
          <a:ln w="6350">
            <a:solidFill>
              <a:srgbClr val="2A2A2A"/>
            </a:solidFill>
            <a:prstDash val="solid"/>
          </a:ln>
        </p:spPr>
      </p:sp>
      <p:sp>
        <p:nvSpPr>
          <p:cNvPr id="28" name="Shape 26"/>
          <p:cNvSpPr/>
          <p:nvPr/>
        </p:nvSpPr>
        <p:spPr>
          <a:xfrm>
            <a:off x="8229600" y="2103120"/>
            <a:ext cx="3566160" cy="54864"/>
          </a:xfrm>
          <a:prstGeom prst="rect">
            <a:avLst/>
          </a:prstGeom>
          <a:solidFill>
            <a:srgbClr val="2DD4BF"/>
          </a:solidFill>
          <a:ln/>
        </p:spPr>
      </p:sp>
      <p:sp>
        <p:nvSpPr>
          <p:cNvPr id="29" name="Text 27"/>
          <p:cNvSpPr/>
          <p:nvPr/>
        </p:nvSpPr>
        <p:spPr>
          <a:xfrm>
            <a:off x="8412480" y="2240280"/>
            <a:ext cx="914400" cy="457200"/>
          </a:xfrm>
          <a:prstGeom prst="rect">
            <a:avLst/>
          </a:prstGeom>
          <a:noFill/>
          <a:ln/>
        </p:spPr>
        <p:txBody>
          <a:bodyPr wrap="square" rtlCol="0" anchor="ctr"/>
          <a:lstStyle/>
          <a:p>
            <a:pPr indent="0" marL="0">
              <a:buNone/>
            </a:pPr>
            <a:r>
              <a:rPr lang="en-US" sz="2000" b="1" dirty="0">
                <a:solidFill>
                  <a:srgbClr val="2DD4BF"/>
                </a:solidFill>
                <a:latin typeface="Courier New" pitchFamily="34" charset="0"/>
                <a:ea typeface="Courier New" pitchFamily="34" charset="-122"/>
                <a:cs typeface="Courier New" pitchFamily="34" charset="-120"/>
              </a:rPr>
              <a:t>03</a:t>
            </a:r>
            <a:endParaRPr lang="en-US" sz="2000" dirty="0"/>
          </a:p>
        </p:txBody>
      </p:sp>
      <p:sp>
        <p:nvSpPr>
          <p:cNvPr id="30" name="Text 28"/>
          <p:cNvSpPr/>
          <p:nvPr/>
        </p:nvSpPr>
        <p:spPr>
          <a:xfrm>
            <a:off x="8412480" y="2651760"/>
            <a:ext cx="3200400" cy="457200"/>
          </a:xfrm>
          <a:prstGeom prst="rect">
            <a:avLst/>
          </a:prstGeom>
          <a:noFill/>
          <a:ln/>
        </p:spPr>
        <p:txBody>
          <a:bodyPr wrap="square" rtlCol="0" anchor="ctr"/>
          <a:lstStyle/>
          <a:p>
            <a:pPr indent="0" marL="0">
              <a:buNone/>
            </a:pPr>
            <a:r>
              <a:rPr lang="en-US" sz="2400" b="1" dirty="0">
                <a:solidFill>
                  <a:srgbClr val="F2EFE9"/>
                </a:solidFill>
                <a:latin typeface="Georgia" pitchFamily="34" charset="0"/>
                <a:ea typeface="Georgia" pitchFamily="34" charset="-122"/>
                <a:cs typeface="Georgia" pitchFamily="34" charset="-120"/>
              </a:rPr>
              <a:t>Acquire</a:t>
            </a:r>
            <a:endParaRPr lang="en-US" sz="2400" dirty="0"/>
          </a:p>
        </p:txBody>
      </p:sp>
      <p:sp>
        <p:nvSpPr>
          <p:cNvPr id="31" name="Text 29"/>
          <p:cNvSpPr/>
          <p:nvPr/>
        </p:nvSpPr>
        <p:spPr>
          <a:xfrm>
            <a:off x="8412480" y="3154680"/>
            <a:ext cx="3200400" cy="1463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Full acquisition of Forge IP, codebase, and architecture. Quicken absorbs Forge as the foundation of a new Analytics Suite. LukaLab transitions as a product and engineering resource.</a:t>
            </a:r>
            <a:endParaRPr lang="en-US" sz="1100" dirty="0"/>
          </a:p>
        </p:txBody>
      </p:sp>
      <p:sp>
        <p:nvSpPr>
          <p:cNvPr id="32" name="Shape 30"/>
          <p:cNvSpPr/>
          <p:nvPr/>
        </p:nvSpPr>
        <p:spPr>
          <a:xfrm>
            <a:off x="8394192" y="4709160"/>
            <a:ext cx="91440" cy="91440"/>
          </a:xfrm>
          <a:prstGeom prst="ellipse">
            <a:avLst/>
          </a:prstGeom>
          <a:solidFill>
            <a:srgbClr val="2DD4BF"/>
          </a:solidFill>
          <a:ln/>
        </p:spPr>
      </p:sp>
      <p:sp>
        <p:nvSpPr>
          <p:cNvPr id="33" name="Text 31"/>
          <p:cNvSpPr/>
          <p:nvPr/>
        </p:nvSpPr>
        <p:spPr>
          <a:xfrm>
            <a:off x="8549640" y="4663440"/>
            <a:ext cx="3017520" cy="320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Complete ownership of technology</a:t>
            </a:r>
            <a:endParaRPr lang="en-US" sz="1100" dirty="0"/>
          </a:p>
        </p:txBody>
      </p:sp>
      <p:sp>
        <p:nvSpPr>
          <p:cNvPr id="34" name="Shape 32"/>
          <p:cNvSpPr/>
          <p:nvPr/>
        </p:nvSpPr>
        <p:spPr>
          <a:xfrm>
            <a:off x="8394192" y="5056632"/>
            <a:ext cx="91440" cy="91440"/>
          </a:xfrm>
          <a:prstGeom prst="ellipse">
            <a:avLst/>
          </a:prstGeom>
          <a:solidFill>
            <a:srgbClr val="2DD4BF"/>
          </a:solidFill>
          <a:ln/>
        </p:spPr>
      </p:sp>
      <p:sp>
        <p:nvSpPr>
          <p:cNvPr id="35" name="Text 33"/>
          <p:cNvSpPr/>
          <p:nvPr/>
        </p:nvSpPr>
        <p:spPr>
          <a:xfrm>
            <a:off x="8549640" y="5010912"/>
            <a:ext cx="3017520" cy="320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Roadmap control</a:t>
            </a:r>
            <a:endParaRPr lang="en-US" sz="1100" dirty="0"/>
          </a:p>
        </p:txBody>
      </p:sp>
      <p:sp>
        <p:nvSpPr>
          <p:cNvPr id="36" name="Shape 34"/>
          <p:cNvSpPr/>
          <p:nvPr/>
        </p:nvSpPr>
        <p:spPr>
          <a:xfrm>
            <a:off x="8394192" y="5404104"/>
            <a:ext cx="91440" cy="91440"/>
          </a:xfrm>
          <a:prstGeom prst="ellipse">
            <a:avLst/>
          </a:prstGeom>
          <a:solidFill>
            <a:srgbClr val="2DD4BF"/>
          </a:solidFill>
          <a:ln/>
        </p:spPr>
      </p:sp>
      <p:sp>
        <p:nvSpPr>
          <p:cNvPr id="37" name="Text 35"/>
          <p:cNvSpPr/>
          <p:nvPr/>
        </p:nvSpPr>
        <p:spPr>
          <a:xfrm>
            <a:off x="8549640" y="5358384"/>
            <a:ext cx="3017520" cy="320040"/>
          </a:xfrm>
          <a:prstGeom prst="rect">
            <a:avLst/>
          </a:prstGeom>
          <a:noFill/>
          <a:ln/>
        </p:spPr>
        <p:txBody>
          <a:bodyPr wrap="square" rtlCol="0" anchor="ctr"/>
          <a:lstStyle/>
          <a:p>
            <a:pPr indent="0" marL="0">
              <a:buNone/>
            </a:pPr>
            <a:r>
              <a:rPr lang="en-US" sz="1100" dirty="0">
                <a:solidFill>
                  <a:srgbClr val="9CA3AF"/>
                </a:solidFill>
                <a:latin typeface="Arial" pitchFamily="34" charset="0"/>
                <a:ea typeface="Arial" pitchFamily="34" charset="-122"/>
                <a:cs typeface="Arial" pitchFamily="34" charset="-120"/>
              </a:rPr>
              <a:t>Eliminates competitive gap permanently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274320"/>
            <a:ext cx="5486400" cy="256032"/>
          </a:xfrm>
          <a:prstGeom prst="rect">
            <a:avLst/>
          </a:prstGeom>
          <a:noFill/>
          <a:ln/>
        </p:spPr>
        <p:txBody>
          <a:bodyPr wrap="square" rtlCol="0" anchor="ctr"/>
          <a:lstStyle/>
          <a:p>
            <a:pPr algn="l" indent="0" marL="0">
              <a:buNone/>
            </a:pPr>
            <a:r>
              <a:rPr lang="en-US" sz="900" spc="300" kern="0" dirty="0">
                <a:solidFill>
                  <a:srgbClr val="F5A800"/>
                </a:solidFill>
                <a:latin typeface="Courier New" pitchFamily="34" charset="0"/>
                <a:ea typeface="Courier New" pitchFamily="34" charset="-122"/>
                <a:cs typeface="Courier New" pitchFamily="34" charset="-120"/>
              </a:rPr>
              <a:t>WHY NOW</a:t>
            </a:r>
            <a:endParaRPr lang="en-US" sz="900" dirty="0"/>
          </a:p>
        </p:txBody>
      </p:sp>
      <p:sp>
        <p:nvSpPr>
          <p:cNvPr id="3" name="Text 1"/>
          <p:cNvSpPr/>
          <p:nvPr/>
        </p:nvSpPr>
        <p:spPr>
          <a:xfrm>
            <a:off x="457200" y="411480"/>
            <a:ext cx="11247120" cy="1645920"/>
          </a:xfrm>
          <a:prstGeom prst="rect">
            <a:avLst/>
          </a:prstGeom>
          <a:noFill/>
          <a:ln/>
        </p:spPr>
        <p:txBody>
          <a:bodyPr wrap="square" rtlCol="0" anchor="t"/>
          <a:lstStyle/>
          <a:p>
            <a:pPr algn="l" indent="0" marL="0">
              <a:buNone/>
            </a:pPr>
            <a:r>
              <a:rPr lang="en-US" sz="2800" b="1" dirty="0">
                <a:solidFill>
                  <a:srgbClr val="F2EFE9"/>
                </a:solidFill>
                <a:latin typeface="Georgia" pitchFamily="34" charset="0"/>
                <a:ea typeface="Georgia" pitchFamily="34" charset="-122"/>
                <a:cs typeface="Georgia" pitchFamily="34" charset="-120"/>
              </a:rPr>
              <a:t>The window for Quicken to own</a:t>
            </a:r>
            <a:endParaRPr lang="en-US" sz="2800" dirty="0"/>
          </a:p>
          <a:p>
            <a:pPr algn="l" indent="0" marL="0">
              <a:buNone/>
            </a:pPr>
            <a:r>
              <a:rPr lang="en-US" sz="2800" b="1" dirty="0">
                <a:solidFill>
                  <a:srgbClr val="F2EFE9"/>
                </a:solidFill>
                <a:latin typeface="Georgia" pitchFamily="34" charset="0"/>
                <a:ea typeface="Georgia" pitchFamily="34" charset="-122"/>
                <a:cs typeface="Georgia" pitchFamily="34" charset="-120"/>
              </a:rPr>
              <a:t>household financial intelligence is open.</a:t>
            </a:r>
            <a:endParaRPr lang="en-US" sz="2800" dirty="0"/>
          </a:p>
        </p:txBody>
      </p:sp>
      <p:sp>
        <p:nvSpPr>
          <p:cNvPr id="4" name="Shape 2"/>
          <p:cNvSpPr/>
          <p:nvPr/>
        </p:nvSpPr>
        <p:spPr>
          <a:xfrm>
            <a:off x="457200" y="1965960"/>
            <a:ext cx="11247120" cy="0"/>
          </a:xfrm>
          <a:prstGeom prst="line">
            <a:avLst/>
          </a:prstGeom>
          <a:noFill/>
          <a:ln w="19050">
            <a:solidFill>
              <a:srgbClr val="F5A800"/>
            </a:solidFill>
            <a:prstDash val="solid"/>
          </a:ln>
        </p:spPr>
      </p:sp>
      <p:sp>
        <p:nvSpPr>
          <p:cNvPr id="5" name="Shape 3"/>
          <p:cNvSpPr/>
          <p:nvPr/>
        </p:nvSpPr>
        <p:spPr>
          <a:xfrm>
            <a:off x="457200" y="2148840"/>
            <a:ext cx="11247120" cy="1051560"/>
          </a:xfrm>
          <a:prstGeom prst="rect">
            <a:avLst/>
          </a:prstGeom>
          <a:solidFill>
            <a:srgbClr val="1C1C1C"/>
          </a:solidFill>
          <a:ln w="6350">
            <a:solidFill>
              <a:srgbClr val="2A2A2A"/>
            </a:solidFill>
            <a:prstDash val="solid"/>
          </a:ln>
        </p:spPr>
      </p:sp>
      <p:sp>
        <p:nvSpPr>
          <p:cNvPr id="6" name="Shape 4"/>
          <p:cNvSpPr/>
          <p:nvPr/>
        </p:nvSpPr>
        <p:spPr>
          <a:xfrm>
            <a:off x="457200" y="2148840"/>
            <a:ext cx="73152" cy="1051560"/>
          </a:xfrm>
          <a:prstGeom prst="rect">
            <a:avLst/>
          </a:prstGeom>
          <a:solidFill>
            <a:srgbClr val="F5A800"/>
          </a:solidFill>
          <a:ln/>
        </p:spPr>
      </p:sp>
      <p:sp>
        <p:nvSpPr>
          <p:cNvPr id="7" name="Text 5"/>
          <p:cNvSpPr/>
          <p:nvPr/>
        </p:nvSpPr>
        <p:spPr>
          <a:xfrm>
            <a:off x="685800" y="2258568"/>
            <a:ext cx="2011680" cy="274320"/>
          </a:xfrm>
          <a:prstGeom prst="rect">
            <a:avLst/>
          </a:prstGeom>
          <a:noFill/>
          <a:ln/>
        </p:spPr>
        <p:txBody>
          <a:bodyPr wrap="square" rtlCol="0" anchor="ctr"/>
          <a:lstStyle/>
          <a:p>
            <a:pPr indent="0" marL="0">
              <a:buNone/>
            </a:pPr>
            <a:r>
              <a:rPr lang="en-US" sz="1300" b="1" dirty="0">
                <a:solidFill>
                  <a:srgbClr val="F5A800"/>
                </a:solidFill>
                <a:latin typeface="Arial" pitchFamily="34" charset="0"/>
                <a:ea typeface="Arial" pitchFamily="34" charset="-122"/>
                <a:cs typeface="Arial" pitchFamily="34" charset="-120"/>
              </a:rPr>
              <a:t>AI moment</a:t>
            </a:r>
            <a:endParaRPr lang="en-US" sz="1300" dirty="0"/>
          </a:p>
        </p:txBody>
      </p:sp>
      <p:sp>
        <p:nvSpPr>
          <p:cNvPr id="8" name="Text 6"/>
          <p:cNvSpPr/>
          <p:nvPr/>
        </p:nvSpPr>
        <p:spPr>
          <a:xfrm>
            <a:off x="2834640" y="2258568"/>
            <a:ext cx="8686800" cy="777240"/>
          </a:xfrm>
          <a:prstGeom prst="rect">
            <a:avLst/>
          </a:prstGeom>
          <a:noFill/>
          <a:ln/>
        </p:spPr>
        <p:txBody>
          <a:bodyPr wrap="square" rtlCol="0" anchor="ctr"/>
          <a:lstStyle/>
          <a:p>
            <a:pPr indent="0" marL="0">
              <a:buNone/>
            </a:pPr>
            <a:r>
              <a:rPr lang="en-US" sz="1200" dirty="0">
                <a:solidFill>
                  <a:srgbClr val="9CA3AF"/>
                </a:solidFill>
                <a:latin typeface="Arial" pitchFamily="34" charset="0"/>
                <a:ea typeface="Arial" pitchFamily="34" charset="-122"/>
                <a:cs typeface="Arial" pitchFamily="34" charset="-120"/>
              </a:rPr>
              <a:t>LLMs have made it possible to parse any financial document, answer any financial question, and detect anomalies in real time. Forge already does all three. The technology is proven and deployable today.</a:t>
            </a:r>
            <a:endParaRPr lang="en-US" sz="1200" dirty="0"/>
          </a:p>
        </p:txBody>
      </p:sp>
      <p:sp>
        <p:nvSpPr>
          <p:cNvPr id="9" name="Shape 7"/>
          <p:cNvSpPr/>
          <p:nvPr/>
        </p:nvSpPr>
        <p:spPr>
          <a:xfrm>
            <a:off x="457200" y="3310128"/>
            <a:ext cx="11247120" cy="1051560"/>
          </a:xfrm>
          <a:prstGeom prst="rect">
            <a:avLst/>
          </a:prstGeom>
          <a:solidFill>
            <a:srgbClr val="1C1C1C"/>
          </a:solidFill>
          <a:ln w="6350">
            <a:solidFill>
              <a:srgbClr val="2A2A2A"/>
            </a:solidFill>
            <a:prstDash val="solid"/>
          </a:ln>
        </p:spPr>
      </p:sp>
      <p:sp>
        <p:nvSpPr>
          <p:cNvPr id="10" name="Shape 8"/>
          <p:cNvSpPr/>
          <p:nvPr/>
        </p:nvSpPr>
        <p:spPr>
          <a:xfrm>
            <a:off x="457200" y="3310128"/>
            <a:ext cx="73152" cy="1051560"/>
          </a:xfrm>
          <a:prstGeom prst="rect">
            <a:avLst/>
          </a:prstGeom>
          <a:solidFill>
            <a:srgbClr val="F5A800"/>
          </a:solidFill>
          <a:ln/>
        </p:spPr>
      </p:sp>
      <p:sp>
        <p:nvSpPr>
          <p:cNvPr id="11" name="Text 9"/>
          <p:cNvSpPr/>
          <p:nvPr/>
        </p:nvSpPr>
        <p:spPr>
          <a:xfrm>
            <a:off x="685800" y="3419856"/>
            <a:ext cx="2011680" cy="274320"/>
          </a:xfrm>
          <a:prstGeom prst="rect">
            <a:avLst/>
          </a:prstGeom>
          <a:noFill/>
          <a:ln/>
        </p:spPr>
        <p:txBody>
          <a:bodyPr wrap="square" rtlCol="0" anchor="ctr"/>
          <a:lstStyle/>
          <a:p>
            <a:pPr indent="0" marL="0">
              <a:buNone/>
            </a:pPr>
            <a:r>
              <a:rPr lang="en-US" sz="1300" b="1" dirty="0">
                <a:solidFill>
                  <a:srgbClr val="F5A800"/>
                </a:solidFill>
                <a:latin typeface="Arial" pitchFamily="34" charset="0"/>
                <a:ea typeface="Arial" pitchFamily="34" charset="-122"/>
                <a:cs typeface="Arial" pitchFamily="34" charset="-120"/>
              </a:rPr>
              <a:t>Mint is dead</a:t>
            </a:r>
            <a:endParaRPr lang="en-US" sz="1300" dirty="0"/>
          </a:p>
        </p:txBody>
      </p:sp>
      <p:sp>
        <p:nvSpPr>
          <p:cNvPr id="12" name="Text 10"/>
          <p:cNvSpPr/>
          <p:nvPr/>
        </p:nvSpPr>
        <p:spPr>
          <a:xfrm>
            <a:off x="2834640" y="3419856"/>
            <a:ext cx="8686800" cy="777240"/>
          </a:xfrm>
          <a:prstGeom prst="rect">
            <a:avLst/>
          </a:prstGeom>
          <a:noFill/>
          <a:ln/>
        </p:spPr>
        <p:txBody>
          <a:bodyPr wrap="square" rtlCol="0" anchor="ctr"/>
          <a:lstStyle/>
          <a:p>
            <a:pPr indent="0" marL="0">
              <a:buNone/>
            </a:pPr>
            <a:r>
              <a:rPr lang="en-US" sz="1200" dirty="0">
                <a:solidFill>
                  <a:srgbClr val="9CA3AF"/>
                </a:solidFill>
                <a:latin typeface="Arial" pitchFamily="34" charset="0"/>
                <a:ea typeface="Arial" pitchFamily="34" charset="-122"/>
                <a:cs typeface="Arial" pitchFamily="34" charset="-120"/>
              </a:rPr>
              <a:t>Intuit shut down Mint in 2024. Millions of household financial management users are actively looking for alternatives. Quicken + Forge is the only product that combines ledger fidelity with intelligence-layer analytics.</a:t>
            </a:r>
            <a:endParaRPr lang="en-US" sz="1200" dirty="0"/>
          </a:p>
        </p:txBody>
      </p:sp>
      <p:sp>
        <p:nvSpPr>
          <p:cNvPr id="13" name="Shape 11"/>
          <p:cNvSpPr/>
          <p:nvPr/>
        </p:nvSpPr>
        <p:spPr>
          <a:xfrm>
            <a:off x="457200" y="4471416"/>
            <a:ext cx="11247120" cy="1051560"/>
          </a:xfrm>
          <a:prstGeom prst="rect">
            <a:avLst/>
          </a:prstGeom>
          <a:solidFill>
            <a:srgbClr val="1C1C1C"/>
          </a:solidFill>
          <a:ln w="6350">
            <a:solidFill>
              <a:srgbClr val="2A2A2A"/>
            </a:solidFill>
            <a:prstDash val="solid"/>
          </a:ln>
        </p:spPr>
      </p:sp>
      <p:sp>
        <p:nvSpPr>
          <p:cNvPr id="14" name="Shape 12"/>
          <p:cNvSpPr/>
          <p:nvPr/>
        </p:nvSpPr>
        <p:spPr>
          <a:xfrm>
            <a:off x="457200" y="4471416"/>
            <a:ext cx="73152" cy="1051560"/>
          </a:xfrm>
          <a:prstGeom prst="rect">
            <a:avLst/>
          </a:prstGeom>
          <a:solidFill>
            <a:srgbClr val="F5A800"/>
          </a:solidFill>
          <a:ln/>
        </p:spPr>
      </p:sp>
      <p:sp>
        <p:nvSpPr>
          <p:cNvPr id="15" name="Text 13"/>
          <p:cNvSpPr/>
          <p:nvPr/>
        </p:nvSpPr>
        <p:spPr>
          <a:xfrm>
            <a:off x="685800" y="4581144"/>
            <a:ext cx="2011680" cy="274320"/>
          </a:xfrm>
          <a:prstGeom prst="rect">
            <a:avLst/>
          </a:prstGeom>
          <a:noFill/>
          <a:ln/>
        </p:spPr>
        <p:txBody>
          <a:bodyPr wrap="square" rtlCol="0" anchor="ctr"/>
          <a:lstStyle/>
          <a:p>
            <a:pPr indent="0" marL="0">
              <a:buNone/>
            </a:pPr>
            <a:r>
              <a:rPr lang="en-US" sz="1300" b="1" dirty="0">
                <a:solidFill>
                  <a:srgbClr val="F5A800"/>
                </a:solidFill>
                <a:latin typeface="Arial" pitchFamily="34" charset="0"/>
                <a:ea typeface="Arial" pitchFamily="34" charset="-122"/>
                <a:cs typeface="Arial" pitchFamily="34" charset="-120"/>
              </a:rPr>
              <a:t>Open Banking</a:t>
            </a:r>
            <a:endParaRPr lang="en-US" sz="1300" dirty="0"/>
          </a:p>
        </p:txBody>
      </p:sp>
      <p:sp>
        <p:nvSpPr>
          <p:cNvPr id="16" name="Text 14"/>
          <p:cNvSpPr/>
          <p:nvPr/>
        </p:nvSpPr>
        <p:spPr>
          <a:xfrm>
            <a:off x="2834640" y="4581144"/>
            <a:ext cx="8686800" cy="777240"/>
          </a:xfrm>
          <a:prstGeom prst="rect">
            <a:avLst/>
          </a:prstGeom>
          <a:noFill/>
          <a:ln/>
        </p:spPr>
        <p:txBody>
          <a:bodyPr wrap="square" rtlCol="0" anchor="ctr"/>
          <a:lstStyle/>
          <a:p>
            <a:pPr indent="0" marL="0">
              <a:buNone/>
            </a:pPr>
            <a:r>
              <a:rPr lang="en-US" sz="1200" dirty="0">
                <a:solidFill>
                  <a:srgbClr val="9CA3AF"/>
                </a:solidFill>
                <a:latin typeface="Arial" pitchFamily="34" charset="0"/>
                <a:ea typeface="Arial" pitchFamily="34" charset="-122"/>
                <a:cs typeface="Arial" pitchFamily="34" charset="-120"/>
              </a:rPr>
              <a:t>As financial data portability increases, the competitive moat shifts from data access to data intelligence. Quicken's moat is its user trust and transaction history depth. Forge is the intelligence layer that monetizes that moat.</a:t>
            </a:r>
            <a:endParaRPr lang="en-US" sz="1200" dirty="0"/>
          </a:p>
        </p:txBody>
      </p:sp>
      <p:sp>
        <p:nvSpPr>
          <p:cNvPr id="17" name="Shape 15"/>
          <p:cNvSpPr/>
          <p:nvPr/>
        </p:nvSpPr>
        <p:spPr>
          <a:xfrm>
            <a:off x="457200" y="5632704"/>
            <a:ext cx="11247120" cy="1051560"/>
          </a:xfrm>
          <a:prstGeom prst="rect">
            <a:avLst/>
          </a:prstGeom>
          <a:solidFill>
            <a:srgbClr val="1C1C1C"/>
          </a:solidFill>
          <a:ln w="6350">
            <a:solidFill>
              <a:srgbClr val="2A2A2A"/>
            </a:solidFill>
            <a:prstDash val="solid"/>
          </a:ln>
        </p:spPr>
      </p:sp>
      <p:sp>
        <p:nvSpPr>
          <p:cNvPr id="18" name="Shape 16"/>
          <p:cNvSpPr/>
          <p:nvPr/>
        </p:nvSpPr>
        <p:spPr>
          <a:xfrm>
            <a:off x="457200" y="5632704"/>
            <a:ext cx="73152" cy="1051560"/>
          </a:xfrm>
          <a:prstGeom prst="rect">
            <a:avLst/>
          </a:prstGeom>
          <a:solidFill>
            <a:srgbClr val="F5A800"/>
          </a:solidFill>
          <a:ln/>
        </p:spPr>
      </p:sp>
      <p:sp>
        <p:nvSpPr>
          <p:cNvPr id="19" name="Text 17"/>
          <p:cNvSpPr/>
          <p:nvPr/>
        </p:nvSpPr>
        <p:spPr>
          <a:xfrm>
            <a:off x="685800" y="5742432"/>
            <a:ext cx="2011680" cy="274320"/>
          </a:xfrm>
          <a:prstGeom prst="rect">
            <a:avLst/>
          </a:prstGeom>
          <a:noFill/>
          <a:ln/>
        </p:spPr>
        <p:txBody>
          <a:bodyPr wrap="square" rtlCol="0" anchor="ctr"/>
          <a:lstStyle/>
          <a:p>
            <a:pPr indent="0" marL="0">
              <a:buNone/>
            </a:pPr>
            <a:r>
              <a:rPr lang="en-US" sz="1300" b="1" dirty="0">
                <a:solidFill>
                  <a:srgbClr val="F5A800"/>
                </a:solidFill>
                <a:latin typeface="Arial" pitchFamily="34" charset="0"/>
                <a:ea typeface="Arial" pitchFamily="34" charset="-122"/>
                <a:cs typeface="Arial" pitchFamily="34" charset="-120"/>
              </a:rPr>
              <a:t>YNAB gap</a:t>
            </a:r>
            <a:endParaRPr lang="en-US" sz="1300" dirty="0"/>
          </a:p>
        </p:txBody>
      </p:sp>
      <p:sp>
        <p:nvSpPr>
          <p:cNvPr id="20" name="Text 18"/>
          <p:cNvSpPr/>
          <p:nvPr/>
        </p:nvSpPr>
        <p:spPr>
          <a:xfrm>
            <a:off x="2834640" y="5742432"/>
            <a:ext cx="8686800" cy="777240"/>
          </a:xfrm>
          <a:prstGeom prst="rect">
            <a:avLst/>
          </a:prstGeom>
          <a:noFill/>
          <a:ln/>
        </p:spPr>
        <p:txBody>
          <a:bodyPr wrap="square" rtlCol="0" anchor="ctr"/>
          <a:lstStyle/>
          <a:p>
            <a:pPr indent="0" marL="0">
              <a:buNone/>
            </a:pPr>
            <a:r>
              <a:rPr lang="en-US" sz="1200" dirty="0">
                <a:solidFill>
                  <a:srgbClr val="9CA3AF"/>
                </a:solidFill>
                <a:latin typeface="Arial" pitchFamily="34" charset="0"/>
                <a:ea typeface="Arial" pitchFamily="34" charset="-122"/>
                <a:cs typeface="Arial" pitchFamily="34" charset="-120"/>
              </a:rPr>
              <a:t>YNAB focuses on forward-looking budgeting. Quicken + Forge covers the full picture: historical analysis, real-time anomaly detection, and forward planning — without asking users to abandon their existing data.</a:t>
            </a:r>
            <a:endParaRPr lang="en-US" sz="1200" dirty="0"/>
          </a:p>
        </p:txBody>
      </p:sp>
      <p:sp>
        <p:nvSpPr>
          <p:cNvPr id="21" name="Text 19"/>
          <p:cNvSpPr/>
          <p:nvPr/>
        </p:nvSpPr>
        <p:spPr>
          <a:xfrm>
            <a:off x="457200" y="6675120"/>
            <a:ext cx="11247120" cy="182880"/>
          </a:xfrm>
          <a:prstGeom prst="rect">
            <a:avLst/>
          </a:prstGeom>
          <a:noFill/>
          <a:ln/>
        </p:spPr>
        <p:txBody>
          <a:bodyPr wrap="square" rtlCol="0" anchor="ctr"/>
          <a:lstStyle/>
          <a:p>
            <a:pPr indent="0" marL="0">
              <a:buNone/>
            </a:pPr>
            <a:r>
              <a:rPr lang="en-US" sz="1300" i="1" dirty="0">
                <a:solidFill>
                  <a:srgbClr val="6B7280"/>
                </a:solidFill>
                <a:latin typeface="Arial" pitchFamily="34" charset="0"/>
                <a:ea typeface="Arial" pitchFamily="34" charset="-122"/>
                <a:cs typeface="Arial" pitchFamily="34" charset="-120"/>
              </a:rPr>
              <a:t>Forge is built. The parsers work. The charts render. The AI is live. This isn't a concept — it's a product with a real family using it every month.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E0E"/>
        </a:solidFill>
      </p:bgPr>
    </p:bg>
    <p:spTree>
      <p:nvGrpSpPr>
        <p:cNvPr id="1" name=""/>
        <p:cNvGrpSpPr/>
        <p:nvPr/>
      </p:nvGrpSpPr>
      <p:grpSpPr>
        <a:xfrm>
          <a:off x="0" y="0"/>
          <a:ext cx="0" cy="0"/>
          <a:chOff x="0" y="0"/>
          <a:chExt cx="0" cy="0"/>
        </a:xfrm>
      </p:grpSpPr>
      <p:sp>
        <p:nvSpPr>
          <p:cNvPr id="2" name="Text 0"/>
          <p:cNvSpPr/>
          <p:nvPr/>
        </p:nvSpPr>
        <p:spPr>
          <a:xfrm>
            <a:off x="457200" y="274320"/>
            <a:ext cx="5486400" cy="256032"/>
          </a:xfrm>
          <a:prstGeom prst="rect">
            <a:avLst/>
          </a:prstGeom>
          <a:noFill/>
          <a:ln/>
        </p:spPr>
        <p:txBody>
          <a:bodyPr wrap="square" rtlCol="0" anchor="ctr"/>
          <a:lstStyle/>
          <a:p>
            <a:pPr algn="l" indent="0" marL="0">
              <a:buNone/>
            </a:pPr>
            <a:r>
              <a:rPr lang="en-US" sz="900" spc="300" kern="0" dirty="0">
                <a:solidFill>
                  <a:srgbClr val="F5A800"/>
                </a:solidFill>
                <a:latin typeface="Courier New" pitchFamily="34" charset="0"/>
                <a:ea typeface="Courier New" pitchFamily="34" charset="-122"/>
                <a:cs typeface="Courier New" pitchFamily="34" charset="-120"/>
              </a:rPr>
              <a:t>PROOF OF CONCEPT</a:t>
            </a:r>
            <a:endParaRPr lang="en-US" sz="900" dirty="0"/>
          </a:p>
        </p:txBody>
      </p:sp>
      <p:sp>
        <p:nvSpPr>
          <p:cNvPr id="3" name="Text 1"/>
          <p:cNvSpPr/>
          <p:nvPr/>
        </p:nvSpPr>
        <p:spPr>
          <a:xfrm>
            <a:off x="457200" y="411480"/>
            <a:ext cx="11247120" cy="1097280"/>
          </a:xfrm>
          <a:prstGeom prst="rect">
            <a:avLst/>
          </a:prstGeom>
          <a:noFill/>
          <a:ln/>
        </p:spPr>
        <p:txBody>
          <a:bodyPr wrap="square" rtlCol="0" anchor="t"/>
          <a:lstStyle/>
          <a:p>
            <a:pPr algn="l" indent="0" marL="0">
              <a:buNone/>
            </a:pPr>
            <a:r>
              <a:rPr lang="en-US" sz="3600" b="1" dirty="0">
                <a:solidFill>
                  <a:srgbClr val="F2EFE9"/>
                </a:solidFill>
                <a:latin typeface="Georgia" pitchFamily="34" charset="0"/>
                <a:ea typeface="Georgia" pitchFamily="34" charset="-122"/>
                <a:cs typeface="Georgia" pitchFamily="34" charset="-120"/>
              </a:rPr>
              <a:t>Production-grade, not a prototype.</a:t>
            </a:r>
            <a:endParaRPr lang="en-US" sz="3600" dirty="0"/>
          </a:p>
        </p:txBody>
      </p:sp>
      <p:sp>
        <p:nvSpPr>
          <p:cNvPr id="4" name="Shape 2"/>
          <p:cNvSpPr/>
          <p:nvPr/>
        </p:nvSpPr>
        <p:spPr>
          <a:xfrm>
            <a:off x="457200" y="960120"/>
            <a:ext cx="11247120" cy="0"/>
          </a:xfrm>
          <a:prstGeom prst="line">
            <a:avLst/>
          </a:prstGeom>
          <a:noFill/>
          <a:ln w="19050">
            <a:solidFill>
              <a:srgbClr val="F5A800"/>
            </a:solidFill>
            <a:prstDash val="solid"/>
          </a:ln>
        </p:spPr>
      </p:sp>
      <p:sp>
        <p:nvSpPr>
          <p:cNvPr id="5" name="Shape 3"/>
          <p:cNvSpPr/>
          <p:nvPr/>
        </p:nvSpPr>
        <p:spPr>
          <a:xfrm>
            <a:off x="457200" y="1188720"/>
            <a:ext cx="3566160" cy="1737360"/>
          </a:xfrm>
          <a:prstGeom prst="rect">
            <a:avLst/>
          </a:prstGeom>
          <a:solidFill>
            <a:srgbClr val="1C1C1C"/>
          </a:solidFill>
          <a:ln w="6350">
            <a:solidFill>
              <a:srgbClr val="2A2A2A"/>
            </a:solidFill>
            <a:prstDash val="solid"/>
          </a:ln>
        </p:spPr>
      </p:sp>
      <p:sp>
        <p:nvSpPr>
          <p:cNvPr id="6" name="Shape 4"/>
          <p:cNvSpPr/>
          <p:nvPr/>
        </p:nvSpPr>
        <p:spPr>
          <a:xfrm>
            <a:off x="457200" y="1188720"/>
            <a:ext cx="3566160" cy="54864"/>
          </a:xfrm>
          <a:prstGeom prst="rect">
            <a:avLst/>
          </a:prstGeom>
          <a:solidFill>
            <a:srgbClr val="F5A800"/>
          </a:solidFill>
          <a:ln/>
        </p:spPr>
      </p:sp>
      <p:sp>
        <p:nvSpPr>
          <p:cNvPr id="7" name="Text 5"/>
          <p:cNvSpPr/>
          <p:nvPr/>
        </p:nvSpPr>
        <p:spPr>
          <a:xfrm>
            <a:off x="640080" y="1371600"/>
            <a:ext cx="3200400" cy="822960"/>
          </a:xfrm>
          <a:prstGeom prst="rect">
            <a:avLst/>
          </a:prstGeom>
          <a:noFill/>
          <a:ln/>
        </p:spPr>
        <p:txBody>
          <a:bodyPr wrap="square" rtlCol="0" anchor="ctr"/>
          <a:lstStyle/>
          <a:p>
            <a:pPr indent="0" marL="0">
              <a:buNone/>
            </a:pPr>
            <a:r>
              <a:rPr lang="en-US" sz="4400" b="1" dirty="0">
                <a:solidFill>
                  <a:srgbClr val="F5A800"/>
                </a:solidFill>
                <a:latin typeface="Georgia" pitchFamily="34" charset="0"/>
                <a:ea typeface="Georgia" pitchFamily="34" charset="-122"/>
                <a:cs typeface="Georgia" pitchFamily="34" charset="-120"/>
              </a:rPr>
              <a:t>v4.0</a:t>
            </a:r>
            <a:endParaRPr lang="en-US" sz="4400" dirty="0"/>
          </a:p>
        </p:txBody>
      </p:sp>
      <p:sp>
        <p:nvSpPr>
          <p:cNvPr id="8" name="Text 6"/>
          <p:cNvSpPr/>
          <p:nvPr/>
        </p:nvSpPr>
        <p:spPr>
          <a:xfrm>
            <a:off x="640080" y="2194560"/>
            <a:ext cx="3200400" cy="594360"/>
          </a:xfrm>
          <a:prstGeom prst="rect">
            <a:avLst/>
          </a:prstGeom>
          <a:noFill/>
          <a:ln/>
        </p:spPr>
        <p:txBody>
          <a:bodyPr wrap="square" rtlCol="0" anchor="ctr"/>
          <a:lstStyle/>
          <a:p>
            <a:pPr indent="0" marL="0">
              <a:buNone/>
            </a:pPr>
            <a:r>
              <a:rPr lang="en-US" sz="1200" dirty="0">
                <a:solidFill>
                  <a:srgbClr val="9CA3AF"/>
                </a:solidFill>
                <a:latin typeface="Arial" pitchFamily="34" charset="0"/>
                <a:ea typeface="Arial" pitchFamily="34" charset="-122"/>
                <a:cs typeface="Arial" pitchFamily="34" charset="-120"/>
              </a:rPr>
              <a:t>Current version — 18+ iterations since launch</a:t>
            </a:r>
            <a:endParaRPr lang="en-US" sz="1200" dirty="0"/>
          </a:p>
        </p:txBody>
      </p:sp>
      <p:sp>
        <p:nvSpPr>
          <p:cNvPr id="9" name="Shape 7"/>
          <p:cNvSpPr/>
          <p:nvPr/>
        </p:nvSpPr>
        <p:spPr>
          <a:xfrm>
            <a:off x="4389120" y="1188720"/>
            <a:ext cx="3566160" cy="1737360"/>
          </a:xfrm>
          <a:prstGeom prst="rect">
            <a:avLst/>
          </a:prstGeom>
          <a:solidFill>
            <a:srgbClr val="1C1C1C"/>
          </a:solidFill>
          <a:ln w="6350">
            <a:solidFill>
              <a:srgbClr val="2A2A2A"/>
            </a:solidFill>
            <a:prstDash val="solid"/>
          </a:ln>
        </p:spPr>
      </p:sp>
      <p:sp>
        <p:nvSpPr>
          <p:cNvPr id="10" name="Shape 8"/>
          <p:cNvSpPr/>
          <p:nvPr/>
        </p:nvSpPr>
        <p:spPr>
          <a:xfrm>
            <a:off x="4389120" y="1188720"/>
            <a:ext cx="3566160" cy="54864"/>
          </a:xfrm>
          <a:prstGeom prst="rect">
            <a:avLst/>
          </a:prstGeom>
          <a:solidFill>
            <a:srgbClr val="F5A800"/>
          </a:solidFill>
          <a:ln/>
        </p:spPr>
      </p:sp>
      <p:sp>
        <p:nvSpPr>
          <p:cNvPr id="11" name="Text 9"/>
          <p:cNvSpPr/>
          <p:nvPr/>
        </p:nvSpPr>
        <p:spPr>
          <a:xfrm>
            <a:off x="4572000" y="1371600"/>
            <a:ext cx="3200400" cy="822960"/>
          </a:xfrm>
          <a:prstGeom prst="rect">
            <a:avLst/>
          </a:prstGeom>
          <a:noFill/>
          <a:ln/>
        </p:spPr>
        <p:txBody>
          <a:bodyPr wrap="square" rtlCol="0" anchor="ctr"/>
          <a:lstStyle/>
          <a:p>
            <a:pPr indent="0" marL="0">
              <a:buNone/>
            </a:pPr>
            <a:r>
              <a:rPr lang="en-US" sz="4400" b="1" dirty="0">
                <a:solidFill>
                  <a:srgbClr val="F5A800"/>
                </a:solidFill>
                <a:latin typeface="Georgia" pitchFamily="34" charset="0"/>
                <a:ea typeface="Georgia" pitchFamily="34" charset="-122"/>
                <a:cs typeface="Georgia" pitchFamily="34" charset="-120"/>
              </a:rPr>
              <a:t>572</a:t>
            </a:r>
            <a:endParaRPr lang="en-US" sz="4400" dirty="0"/>
          </a:p>
        </p:txBody>
      </p:sp>
      <p:sp>
        <p:nvSpPr>
          <p:cNvPr id="12" name="Text 10"/>
          <p:cNvSpPr/>
          <p:nvPr/>
        </p:nvSpPr>
        <p:spPr>
          <a:xfrm>
            <a:off x="4572000" y="2194560"/>
            <a:ext cx="3200400" cy="594360"/>
          </a:xfrm>
          <a:prstGeom prst="rect">
            <a:avLst/>
          </a:prstGeom>
          <a:noFill/>
          <a:ln/>
        </p:spPr>
        <p:txBody>
          <a:bodyPr wrap="square" rtlCol="0" anchor="ctr"/>
          <a:lstStyle/>
          <a:p>
            <a:pPr indent="0" marL="0">
              <a:buNone/>
            </a:pPr>
            <a:r>
              <a:rPr lang="en-US" sz="1200" dirty="0">
                <a:solidFill>
                  <a:srgbClr val="9CA3AF"/>
                </a:solidFill>
                <a:latin typeface="Arial" pitchFamily="34" charset="0"/>
                <a:ea typeface="Arial" pitchFamily="34" charset="-122"/>
                <a:cs typeface="Arial" pitchFamily="34" charset="-120"/>
              </a:rPr>
              <a:t>Automated tests across 26 test suites, 100% pass required</a:t>
            </a:r>
            <a:endParaRPr lang="en-US" sz="1200" dirty="0"/>
          </a:p>
        </p:txBody>
      </p:sp>
      <p:sp>
        <p:nvSpPr>
          <p:cNvPr id="13" name="Shape 11"/>
          <p:cNvSpPr/>
          <p:nvPr/>
        </p:nvSpPr>
        <p:spPr>
          <a:xfrm>
            <a:off x="8321040" y="1188720"/>
            <a:ext cx="3566160" cy="1737360"/>
          </a:xfrm>
          <a:prstGeom prst="rect">
            <a:avLst/>
          </a:prstGeom>
          <a:solidFill>
            <a:srgbClr val="1C1C1C"/>
          </a:solidFill>
          <a:ln w="6350">
            <a:solidFill>
              <a:srgbClr val="2A2A2A"/>
            </a:solidFill>
            <a:prstDash val="solid"/>
          </a:ln>
        </p:spPr>
      </p:sp>
      <p:sp>
        <p:nvSpPr>
          <p:cNvPr id="14" name="Shape 12"/>
          <p:cNvSpPr/>
          <p:nvPr/>
        </p:nvSpPr>
        <p:spPr>
          <a:xfrm>
            <a:off x="8321040" y="1188720"/>
            <a:ext cx="3566160" cy="54864"/>
          </a:xfrm>
          <a:prstGeom prst="rect">
            <a:avLst/>
          </a:prstGeom>
          <a:solidFill>
            <a:srgbClr val="F5A800"/>
          </a:solidFill>
          <a:ln/>
        </p:spPr>
      </p:sp>
      <p:sp>
        <p:nvSpPr>
          <p:cNvPr id="15" name="Text 13"/>
          <p:cNvSpPr/>
          <p:nvPr/>
        </p:nvSpPr>
        <p:spPr>
          <a:xfrm>
            <a:off x="8503920" y="1371600"/>
            <a:ext cx="3200400" cy="822960"/>
          </a:xfrm>
          <a:prstGeom prst="rect">
            <a:avLst/>
          </a:prstGeom>
          <a:noFill/>
          <a:ln/>
        </p:spPr>
        <p:txBody>
          <a:bodyPr wrap="square" rtlCol="0" anchor="ctr"/>
          <a:lstStyle/>
          <a:p>
            <a:pPr indent="0" marL="0">
              <a:buNone/>
            </a:pPr>
            <a:r>
              <a:rPr lang="en-US" sz="4400" b="1" dirty="0">
                <a:solidFill>
                  <a:srgbClr val="F5A800"/>
                </a:solidFill>
                <a:latin typeface="Georgia" pitchFamily="34" charset="0"/>
                <a:ea typeface="Georgia" pitchFamily="34" charset="-122"/>
                <a:cs typeface="Georgia" pitchFamily="34" charset="-120"/>
              </a:rPr>
              <a:t>35+</a:t>
            </a:r>
            <a:endParaRPr lang="en-US" sz="4400" dirty="0"/>
          </a:p>
        </p:txBody>
      </p:sp>
      <p:sp>
        <p:nvSpPr>
          <p:cNvPr id="16" name="Text 14"/>
          <p:cNvSpPr/>
          <p:nvPr/>
        </p:nvSpPr>
        <p:spPr>
          <a:xfrm>
            <a:off x="8503920" y="2194560"/>
            <a:ext cx="3200400" cy="594360"/>
          </a:xfrm>
          <a:prstGeom prst="rect">
            <a:avLst/>
          </a:prstGeom>
          <a:noFill/>
          <a:ln/>
        </p:spPr>
        <p:txBody>
          <a:bodyPr wrap="square" rtlCol="0" anchor="ctr"/>
          <a:lstStyle/>
          <a:p>
            <a:pPr indent="0" marL="0">
              <a:buNone/>
            </a:pPr>
            <a:r>
              <a:rPr lang="en-US" sz="1200" dirty="0">
                <a:solidFill>
                  <a:srgbClr val="9CA3AF"/>
                </a:solidFill>
                <a:latin typeface="Arial" pitchFamily="34" charset="0"/>
                <a:ea typeface="Arial" pitchFamily="34" charset="-122"/>
                <a:cs typeface="Arial" pitchFamily="34" charset="-120"/>
              </a:rPr>
              <a:t>Spending buckets mapped from Quicken's native category strings</a:t>
            </a:r>
            <a:endParaRPr lang="en-US" sz="1200" dirty="0"/>
          </a:p>
        </p:txBody>
      </p:sp>
      <p:sp>
        <p:nvSpPr>
          <p:cNvPr id="17" name="Shape 15"/>
          <p:cNvSpPr/>
          <p:nvPr/>
        </p:nvSpPr>
        <p:spPr>
          <a:xfrm>
            <a:off x="457200" y="3200400"/>
            <a:ext cx="3566160" cy="1737360"/>
          </a:xfrm>
          <a:prstGeom prst="rect">
            <a:avLst/>
          </a:prstGeom>
          <a:solidFill>
            <a:srgbClr val="1C1C1C"/>
          </a:solidFill>
          <a:ln w="6350">
            <a:solidFill>
              <a:srgbClr val="2A2A2A"/>
            </a:solidFill>
            <a:prstDash val="solid"/>
          </a:ln>
        </p:spPr>
      </p:sp>
      <p:sp>
        <p:nvSpPr>
          <p:cNvPr id="18" name="Shape 16"/>
          <p:cNvSpPr/>
          <p:nvPr/>
        </p:nvSpPr>
        <p:spPr>
          <a:xfrm>
            <a:off x="457200" y="3200400"/>
            <a:ext cx="3566160" cy="54864"/>
          </a:xfrm>
          <a:prstGeom prst="rect">
            <a:avLst/>
          </a:prstGeom>
          <a:solidFill>
            <a:srgbClr val="F5A800"/>
          </a:solidFill>
          <a:ln/>
        </p:spPr>
      </p:sp>
      <p:sp>
        <p:nvSpPr>
          <p:cNvPr id="19" name="Text 17"/>
          <p:cNvSpPr/>
          <p:nvPr/>
        </p:nvSpPr>
        <p:spPr>
          <a:xfrm>
            <a:off x="640080" y="3383280"/>
            <a:ext cx="3200400" cy="822960"/>
          </a:xfrm>
          <a:prstGeom prst="rect">
            <a:avLst/>
          </a:prstGeom>
          <a:noFill/>
          <a:ln/>
        </p:spPr>
        <p:txBody>
          <a:bodyPr wrap="square" rtlCol="0" anchor="ctr"/>
          <a:lstStyle/>
          <a:p>
            <a:pPr indent="0" marL="0">
              <a:buNone/>
            </a:pPr>
            <a:r>
              <a:rPr lang="en-US" sz="4400" b="1" dirty="0">
                <a:solidFill>
                  <a:srgbClr val="F5A800"/>
                </a:solidFill>
                <a:latin typeface="Georgia" pitchFamily="34" charset="0"/>
                <a:ea typeface="Georgia" pitchFamily="34" charset="-122"/>
                <a:cs typeface="Georgia" pitchFamily="34" charset="-120"/>
              </a:rPr>
              <a:t>8×8×6</a:t>
            </a:r>
            <a:endParaRPr lang="en-US" sz="4400" dirty="0"/>
          </a:p>
        </p:txBody>
      </p:sp>
      <p:sp>
        <p:nvSpPr>
          <p:cNvPr id="20" name="Text 18"/>
          <p:cNvSpPr/>
          <p:nvPr/>
        </p:nvSpPr>
        <p:spPr>
          <a:xfrm>
            <a:off x="640080" y="4206240"/>
            <a:ext cx="3200400" cy="594360"/>
          </a:xfrm>
          <a:prstGeom prst="rect">
            <a:avLst/>
          </a:prstGeom>
          <a:noFill/>
          <a:ln/>
        </p:spPr>
        <p:txBody>
          <a:bodyPr wrap="square" rtlCol="0" anchor="ctr"/>
          <a:lstStyle/>
          <a:p>
            <a:pPr indent="0" marL="0">
              <a:buNone/>
            </a:pPr>
            <a:r>
              <a:rPr lang="en-US" sz="1200" dirty="0">
                <a:solidFill>
                  <a:srgbClr val="9CA3AF"/>
                </a:solidFill>
                <a:latin typeface="Arial" pitchFamily="34" charset="0"/>
                <a:ea typeface="Arial" pitchFamily="34" charset="-122"/>
                <a:cs typeface="Arial" pitchFamily="34" charset="-120"/>
              </a:rPr>
              <a:t>Chart types × dimensions × metrics in Analytics Studio</a:t>
            </a:r>
            <a:endParaRPr lang="en-US" sz="1200" dirty="0"/>
          </a:p>
        </p:txBody>
      </p:sp>
      <p:sp>
        <p:nvSpPr>
          <p:cNvPr id="21" name="Shape 19"/>
          <p:cNvSpPr/>
          <p:nvPr/>
        </p:nvSpPr>
        <p:spPr>
          <a:xfrm>
            <a:off x="4389120" y="3200400"/>
            <a:ext cx="3566160" cy="1737360"/>
          </a:xfrm>
          <a:prstGeom prst="rect">
            <a:avLst/>
          </a:prstGeom>
          <a:solidFill>
            <a:srgbClr val="1C1C1C"/>
          </a:solidFill>
          <a:ln w="6350">
            <a:solidFill>
              <a:srgbClr val="2A2A2A"/>
            </a:solidFill>
            <a:prstDash val="solid"/>
          </a:ln>
        </p:spPr>
      </p:sp>
      <p:sp>
        <p:nvSpPr>
          <p:cNvPr id="22" name="Shape 20"/>
          <p:cNvSpPr/>
          <p:nvPr/>
        </p:nvSpPr>
        <p:spPr>
          <a:xfrm>
            <a:off x="4389120" y="3200400"/>
            <a:ext cx="3566160" cy="54864"/>
          </a:xfrm>
          <a:prstGeom prst="rect">
            <a:avLst/>
          </a:prstGeom>
          <a:solidFill>
            <a:srgbClr val="F5A800"/>
          </a:solidFill>
          <a:ln/>
        </p:spPr>
      </p:sp>
      <p:sp>
        <p:nvSpPr>
          <p:cNvPr id="23" name="Text 21"/>
          <p:cNvSpPr/>
          <p:nvPr/>
        </p:nvSpPr>
        <p:spPr>
          <a:xfrm>
            <a:off x="4572000" y="3383280"/>
            <a:ext cx="3200400" cy="822960"/>
          </a:xfrm>
          <a:prstGeom prst="rect">
            <a:avLst/>
          </a:prstGeom>
          <a:noFill/>
          <a:ln/>
        </p:spPr>
        <p:txBody>
          <a:bodyPr wrap="square" rtlCol="0" anchor="ctr"/>
          <a:lstStyle/>
          <a:p>
            <a:pPr indent="0" marL="0">
              <a:buNone/>
            </a:pPr>
            <a:r>
              <a:rPr lang="en-US" sz="4400" b="1" dirty="0">
                <a:solidFill>
                  <a:srgbClr val="F5A800"/>
                </a:solidFill>
                <a:latin typeface="Georgia" pitchFamily="34" charset="0"/>
                <a:ea typeface="Georgia" pitchFamily="34" charset="-122"/>
                <a:cs typeface="Georgia" pitchFamily="34" charset="-120"/>
              </a:rPr>
              <a:t>4</a:t>
            </a:r>
            <a:endParaRPr lang="en-US" sz="4400" dirty="0"/>
          </a:p>
        </p:txBody>
      </p:sp>
      <p:sp>
        <p:nvSpPr>
          <p:cNvPr id="24" name="Text 22"/>
          <p:cNvSpPr/>
          <p:nvPr/>
        </p:nvSpPr>
        <p:spPr>
          <a:xfrm>
            <a:off x="4572000" y="4206240"/>
            <a:ext cx="3200400" cy="594360"/>
          </a:xfrm>
          <a:prstGeom prst="rect">
            <a:avLst/>
          </a:prstGeom>
          <a:noFill/>
          <a:ln/>
        </p:spPr>
        <p:txBody>
          <a:bodyPr wrap="square" rtlCol="0" anchor="ctr"/>
          <a:lstStyle/>
          <a:p>
            <a:pPr indent="0" marL="0">
              <a:buNone/>
            </a:pPr>
            <a:r>
              <a:rPr lang="en-US" sz="1200" dirty="0">
                <a:solidFill>
                  <a:srgbClr val="9CA3AF"/>
                </a:solidFill>
                <a:latin typeface="Arial" pitchFamily="34" charset="0"/>
                <a:ea typeface="Arial" pitchFamily="34" charset="-122"/>
                <a:cs typeface="Arial" pitchFamily="34" charset="-120"/>
              </a:rPr>
              <a:t>Quicken export formats auto-detected (QIF, CSV, QFX, OFX)</a:t>
            </a:r>
            <a:endParaRPr lang="en-US" sz="1200" dirty="0"/>
          </a:p>
        </p:txBody>
      </p:sp>
      <p:sp>
        <p:nvSpPr>
          <p:cNvPr id="25" name="Shape 23"/>
          <p:cNvSpPr/>
          <p:nvPr/>
        </p:nvSpPr>
        <p:spPr>
          <a:xfrm>
            <a:off x="8321040" y="3200400"/>
            <a:ext cx="3566160" cy="1737360"/>
          </a:xfrm>
          <a:prstGeom prst="rect">
            <a:avLst/>
          </a:prstGeom>
          <a:solidFill>
            <a:srgbClr val="1C1C1C"/>
          </a:solidFill>
          <a:ln w="6350">
            <a:solidFill>
              <a:srgbClr val="2A2A2A"/>
            </a:solidFill>
            <a:prstDash val="solid"/>
          </a:ln>
        </p:spPr>
      </p:sp>
      <p:sp>
        <p:nvSpPr>
          <p:cNvPr id="26" name="Shape 24"/>
          <p:cNvSpPr/>
          <p:nvPr/>
        </p:nvSpPr>
        <p:spPr>
          <a:xfrm>
            <a:off x="8321040" y="3200400"/>
            <a:ext cx="3566160" cy="54864"/>
          </a:xfrm>
          <a:prstGeom prst="rect">
            <a:avLst/>
          </a:prstGeom>
          <a:solidFill>
            <a:srgbClr val="F5A800"/>
          </a:solidFill>
          <a:ln/>
        </p:spPr>
      </p:sp>
      <p:sp>
        <p:nvSpPr>
          <p:cNvPr id="27" name="Text 25"/>
          <p:cNvSpPr/>
          <p:nvPr/>
        </p:nvSpPr>
        <p:spPr>
          <a:xfrm>
            <a:off x="8503920" y="3383280"/>
            <a:ext cx="3200400" cy="822960"/>
          </a:xfrm>
          <a:prstGeom prst="rect">
            <a:avLst/>
          </a:prstGeom>
          <a:noFill/>
          <a:ln/>
        </p:spPr>
        <p:txBody>
          <a:bodyPr wrap="square" rtlCol="0" anchor="ctr"/>
          <a:lstStyle/>
          <a:p>
            <a:pPr indent="0" marL="0">
              <a:buNone/>
            </a:pPr>
            <a:r>
              <a:rPr lang="en-US" sz="4400" b="1" dirty="0">
                <a:solidFill>
                  <a:srgbClr val="F5A800"/>
                </a:solidFill>
                <a:latin typeface="Georgia" pitchFamily="34" charset="0"/>
                <a:ea typeface="Georgia" pitchFamily="34" charset="-122"/>
                <a:cs typeface="Georgia" pitchFamily="34" charset="-120"/>
              </a:rPr>
              <a:t>5</a:t>
            </a:r>
            <a:endParaRPr lang="en-US" sz="4400" dirty="0"/>
          </a:p>
        </p:txBody>
      </p:sp>
      <p:sp>
        <p:nvSpPr>
          <p:cNvPr id="28" name="Text 26"/>
          <p:cNvSpPr/>
          <p:nvPr/>
        </p:nvSpPr>
        <p:spPr>
          <a:xfrm>
            <a:off x="8503920" y="4206240"/>
            <a:ext cx="3200400" cy="594360"/>
          </a:xfrm>
          <a:prstGeom prst="rect">
            <a:avLst/>
          </a:prstGeom>
          <a:noFill/>
          <a:ln/>
        </p:spPr>
        <p:txBody>
          <a:bodyPr wrap="square" rtlCol="0" anchor="ctr"/>
          <a:lstStyle/>
          <a:p>
            <a:pPr indent="0" marL="0">
              <a:buNone/>
            </a:pPr>
            <a:r>
              <a:rPr lang="en-US" sz="1200" dirty="0">
                <a:solidFill>
                  <a:srgbClr val="9CA3AF"/>
                </a:solidFill>
                <a:latin typeface="Arial" pitchFamily="34" charset="0"/>
                <a:ea typeface="Arial" pitchFamily="34" charset="-122"/>
                <a:cs typeface="Arial" pitchFamily="34" charset="-120"/>
              </a:rPr>
              <a:t>Merchant detail sources parsed (Amazon, Apple Card, Venmo, Home Depot, Generic)</a:t>
            </a:r>
            <a:endParaRPr lang="en-US" sz="1200" dirty="0"/>
          </a:p>
        </p:txBody>
      </p:sp>
      <p:sp>
        <p:nvSpPr>
          <p:cNvPr id="29" name="Text 27"/>
          <p:cNvSpPr/>
          <p:nvPr/>
        </p:nvSpPr>
        <p:spPr>
          <a:xfrm>
            <a:off x="457200" y="5349240"/>
            <a:ext cx="11247120" cy="320040"/>
          </a:xfrm>
          <a:prstGeom prst="rect">
            <a:avLst/>
          </a:prstGeom>
          <a:noFill/>
          <a:ln/>
        </p:spPr>
        <p:txBody>
          <a:bodyPr wrap="square" rtlCol="0" anchor="ctr"/>
          <a:lstStyle/>
          <a:p>
            <a:pPr algn="ctr" indent="0" marL="0">
              <a:buNone/>
            </a:pPr>
            <a:r>
              <a:rPr lang="en-US" sz="1100" dirty="0">
                <a:solidFill>
                  <a:srgbClr val="6B7280"/>
                </a:solidFill>
                <a:latin typeface="Courier New" pitchFamily="34" charset="0"/>
                <a:ea typeface="Courier New" pitchFamily="34" charset="-122"/>
                <a:cs typeface="Courier New" pitchFamily="34" charset="-120"/>
              </a:rPr>
              <a:t>Live at luka731chris.github.io/Forge  ·  Source: github.com/luka731chris/Forge</a:t>
            </a:r>
            <a:endParaRPr lang="en-US" sz="1100" dirty="0"/>
          </a:p>
        </p:txBody>
      </p:sp>
      <p:sp>
        <p:nvSpPr>
          <p:cNvPr id="30" name="Text 28"/>
          <p:cNvSpPr/>
          <p:nvPr/>
        </p:nvSpPr>
        <p:spPr>
          <a:xfrm>
            <a:off x="457200" y="5669280"/>
            <a:ext cx="11247120" cy="274320"/>
          </a:xfrm>
          <a:prstGeom prst="rect">
            <a:avLst/>
          </a:prstGeom>
          <a:noFill/>
          <a:ln/>
        </p:spPr>
        <p:txBody>
          <a:bodyPr wrap="square" rtlCol="0" anchor="ctr"/>
          <a:lstStyle/>
          <a:p>
            <a:pPr algn="ctr" indent="0" marL="0">
              <a:buNone/>
            </a:pPr>
            <a:r>
              <a:rPr lang="en-US" sz="1200" dirty="0">
                <a:solidFill>
                  <a:srgbClr val="6B7280"/>
                </a:solidFill>
                <a:latin typeface="Arial" pitchFamily="34" charset="0"/>
                <a:ea typeface="Arial" pitchFamily="34" charset="-122"/>
                <a:cs typeface="Arial" pitchFamily="34" charset="-120"/>
              </a:rPr>
              <a:t>Built by Chris Luka  ·  LukaLab  ·  Pittsburgh, PA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F5A800"/>
          </a:solidFill>
          <a:ln/>
        </p:spPr>
      </p:sp>
      <p:sp>
        <p:nvSpPr>
          <p:cNvPr id="3" name="Shape 1"/>
          <p:cNvSpPr/>
          <p:nvPr/>
        </p:nvSpPr>
        <p:spPr>
          <a:xfrm>
            <a:off x="457200" y="960120"/>
            <a:ext cx="11247120" cy="54864"/>
          </a:xfrm>
          <a:prstGeom prst="rect">
            <a:avLst/>
          </a:prstGeom>
          <a:solidFill>
            <a:srgbClr val="F5A800"/>
          </a:solidFill>
          <a:ln/>
        </p:spPr>
      </p:sp>
      <p:sp>
        <p:nvSpPr>
          <p:cNvPr id="4" name="Text 2"/>
          <p:cNvSpPr/>
          <p:nvPr/>
        </p:nvSpPr>
        <p:spPr>
          <a:xfrm>
            <a:off x="457200" y="137160"/>
            <a:ext cx="9144000" cy="822960"/>
          </a:xfrm>
          <a:prstGeom prst="rect">
            <a:avLst/>
          </a:prstGeom>
          <a:noFill/>
          <a:ln/>
        </p:spPr>
        <p:txBody>
          <a:bodyPr wrap="square" rtlCol="0" anchor="ctr"/>
          <a:lstStyle/>
          <a:p>
            <a:pPr indent="0" marL="0">
              <a:buNone/>
            </a:pPr>
            <a:r>
              <a:rPr lang="en-US" sz="6000" b="1" dirty="0">
                <a:solidFill>
                  <a:srgbClr val="F5A800"/>
                </a:solidFill>
                <a:latin typeface="Georgia" pitchFamily="34" charset="0"/>
                <a:ea typeface="Georgia" pitchFamily="34" charset="-122"/>
                <a:cs typeface="Georgia" pitchFamily="34" charset="-120"/>
              </a:rPr>
              <a:t>FORGE</a:t>
            </a:r>
            <a:endParaRPr lang="en-US" sz="6000" dirty="0"/>
          </a:p>
        </p:txBody>
      </p:sp>
      <p:sp>
        <p:nvSpPr>
          <p:cNvPr id="5" name="Text 3"/>
          <p:cNvSpPr/>
          <p:nvPr/>
        </p:nvSpPr>
        <p:spPr>
          <a:xfrm>
            <a:off x="457200" y="1143000"/>
            <a:ext cx="10972800" cy="731520"/>
          </a:xfrm>
          <a:prstGeom prst="rect">
            <a:avLst/>
          </a:prstGeom>
          <a:noFill/>
          <a:ln/>
        </p:spPr>
        <p:txBody>
          <a:bodyPr wrap="square" rtlCol="0" anchor="ctr"/>
          <a:lstStyle/>
          <a:p>
            <a:pPr indent="0" marL="0">
              <a:buNone/>
            </a:pPr>
            <a:r>
              <a:rPr lang="en-US" sz="2800" dirty="0">
                <a:solidFill>
                  <a:srgbClr val="F2EFE9"/>
                </a:solidFill>
                <a:latin typeface="Georgia" pitchFamily="34" charset="0"/>
                <a:ea typeface="Georgia" pitchFamily="34" charset="-122"/>
                <a:cs typeface="Georgia" pitchFamily="34" charset="-120"/>
              </a:rPr>
              <a:t>The intelligence layer Quicken has always needed.</a:t>
            </a:r>
            <a:endParaRPr lang="en-US" sz="2800" dirty="0"/>
          </a:p>
        </p:txBody>
      </p:sp>
      <p:sp>
        <p:nvSpPr>
          <p:cNvPr id="6" name="Shape 4"/>
          <p:cNvSpPr/>
          <p:nvPr/>
        </p:nvSpPr>
        <p:spPr>
          <a:xfrm>
            <a:off x="457200" y="1965960"/>
            <a:ext cx="11247120" cy="0"/>
          </a:xfrm>
          <a:prstGeom prst="line">
            <a:avLst/>
          </a:prstGeom>
          <a:noFill/>
          <a:ln w="12700">
            <a:solidFill>
              <a:srgbClr val="2A2A2A"/>
            </a:solidFill>
            <a:prstDash val="solid"/>
          </a:ln>
        </p:spPr>
      </p:sp>
      <p:sp>
        <p:nvSpPr>
          <p:cNvPr id="7" name="Shape 5"/>
          <p:cNvSpPr/>
          <p:nvPr/>
        </p:nvSpPr>
        <p:spPr>
          <a:xfrm>
            <a:off x="457200" y="2194560"/>
            <a:ext cx="11247120" cy="1097280"/>
          </a:xfrm>
          <a:prstGeom prst="rect">
            <a:avLst/>
          </a:prstGeom>
          <a:solidFill>
            <a:srgbClr val="1C1C1C"/>
          </a:solidFill>
          <a:ln w="6350">
            <a:solidFill>
              <a:srgbClr val="252525"/>
            </a:solidFill>
            <a:prstDash val="solid"/>
          </a:ln>
        </p:spPr>
      </p:sp>
      <p:sp>
        <p:nvSpPr>
          <p:cNvPr id="8" name="Shape 6"/>
          <p:cNvSpPr/>
          <p:nvPr/>
        </p:nvSpPr>
        <p:spPr>
          <a:xfrm>
            <a:off x="457200" y="2194560"/>
            <a:ext cx="73152" cy="1097280"/>
          </a:xfrm>
          <a:prstGeom prst="rect">
            <a:avLst/>
          </a:prstGeom>
          <a:solidFill>
            <a:srgbClr val="F5A800"/>
          </a:solidFill>
          <a:ln/>
        </p:spPr>
      </p:sp>
      <p:sp>
        <p:nvSpPr>
          <p:cNvPr id="9" name="Text 7"/>
          <p:cNvSpPr/>
          <p:nvPr/>
        </p:nvSpPr>
        <p:spPr>
          <a:xfrm>
            <a:off x="685800" y="2331720"/>
            <a:ext cx="2286000" cy="320040"/>
          </a:xfrm>
          <a:prstGeom prst="rect">
            <a:avLst/>
          </a:prstGeom>
          <a:noFill/>
          <a:ln/>
        </p:spPr>
        <p:txBody>
          <a:bodyPr wrap="square" rtlCol="0" anchor="ctr"/>
          <a:lstStyle/>
          <a:p>
            <a:pPr indent="0" marL="0">
              <a:buNone/>
            </a:pPr>
            <a:r>
              <a:rPr lang="en-US" sz="1300" b="1" dirty="0">
                <a:solidFill>
                  <a:srgbClr val="F5A800"/>
                </a:solidFill>
                <a:latin typeface="Arial" pitchFamily="34" charset="0"/>
                <a:ea typeface="Arial" pitchFamily="34" charset="-122"/>
                <a:cs typeface="Arial" pitchFamily="34" charset="-120"/>
              </a:rPr>
              <a:t>Try it live</a:t>
            </a:r>
            <a:endParaRPr lang="en-US" sz="1300" dirty="0"/>
          </a:p>
        </p:txBody>
      </p:sp>
      <p:sp>
        <p:nvSpPr>
          <p:cNvPr id="10" name="Text 8"/>
          <p:cNvSpPr/>
          <p:nvPr/>
        </p:nvSpPr>
        <p:spPr>
          <a:xfrm>
            <a:off x="685800" y="2651760"/>
            <a:ext cx="10789920" cy="502920"/>
          </a:xfrm>
          <a:prstGeom prst="rect">
            <a:avLst/>
          </a:prstGeom>
          <a:noFill/>
          <a:ln/>
        </p:spPr>
        <p:txBody>
          <a:bodyPr wrap="square" rtlCol="0" anchor="ctr"/>
          <a:lstStyle/>
          <a:p>
            <a:pPr indent="0" marL="0">
              <a:buNone/>
            </a:pPr>
            <a:r>
              <a:rPr lang="en-US" sz="1300" dirty="0">
                <a:solidFill>
                  <a:srgbClr val="9CA3AF"/>
                </a:solidFill>
                <a:latin typeface="Arial" pitchFamily="34" charset="0"/>
                <a:ea typeface="Arial" pitchFamily="34" charset="-122"/>
                <a:cs typeface="Arial" pitchFamily="34" charset="-120"/>
              </a:rPr>
              <a:t>luka731chris.github.io/Forge — load the demo data and explore every feature</a:t>
            </a:r>
            <a:endParaRPr lang="en-US" sz="1300" dirty="0"/>
          </a:p>
        </p:txBody>
      </p:sp>
      <p:sp>
        <p:nvSpPr>
          <p:cNvPr id="11" name="Shape 9"/>
          <p:cNvSpPr/>
          <p:nvPr/>
        </p:nvSpPr>
        <p:spPr>
          <a:xfrm>
            <a:off x="457200" y="3520440"/>
            <a:ext cx="11247120" cy="1097280"/>
          </a:xfrm>
          <a:prstGeom prst="rect">
            <a:avLst/>
          </a:prstGeom>
          <a:solidFill>
            <a:srgbClr val="1C1C1C"/>
          </a:solidFill>
          <a:ln w="6350">
            <a:solidFill>
              <a:srgbClr val="252525"/>
            </a:solidFill>
            <a:prstDash val="solid"/>
          </a:ln>
        </p:spPr>
      </p:sp>
      <p:sp>
        <p:nvSpPr>
          <p:cNvPr id="12" name="Shape 10"/>
          <p:cNvSpPr/>
          <p:nvPr/>
        </p:nvSpPr>
        <p:spPr>
          <a:xfrm>
            <a:off x="457200" y="3520440"/>
            <a:ext cx="73152" cy="1097280"/>
          </a:xfrm>
          <a:prstGeom prst="rect">
            <a:avLst/>
          </a:prstGeom>
          <a:solidFill>
            <a:srgbClr val="F5A800"/>
          </a:solidFill>
          <a:ln/>
        </p:spPr>
      </p:sp>
      <p:sp>
        <p:nvSpPr>
          <p:cNvPr id="13" name="Text 11"/>
          <p:cNvSpPr/>
          <p:nvPr/>
        </p:nvSpPr>
        <p:spPr>
          <a:xfrm>
            <a:off x="685800" y="3657600"/>
            <a:ext cx="2286000" cy="320040"/>
          </a:xfrm>
          <a:prstGeom prst="rect">
            <a:avLst/>
          </a:prstGeom>
          <a:noFill/>
          <a:ln/>
        </p:spPr>
        <p:txBody>
          <a:bodyPr wrap="square" rtlCol="0" anchor="ctr"/>
          <a:lstStyle/>
          <a:p>
            <a:pPr indent="0" marL="0">
              <a:buNone/>
            </a:pPr>
            <a:r>
              <a:rPr lang="en-US" sz="1300" b="1" dirty="0">
                <a:solidFill>
                  <a:srgbClr val="F5A800"/>
                </a:solidFill>
                <a:latin typeface="Arial" pitchFamily="34" charset="0"/>
                <a:ea typeface="Arial" pitchFamily="34" charset="-122"/>
                <a:cs typeface="Arial" pitchFamily="34" charset="-120"/>
              </a:rPr>
              <a:t>Review the source</a:t>
            </a:r>
            <a:endParaRPr lang="en-US" sz="1300" dirty="0"/>
          </a:p>
        </p:txBody>
      </p:sp>
      <p:sp>
        <p:nvSpPr>
          <p:cNvPr id="14" name="Text 12"/>
          <p:cNvSpPr/>
          <p:nvPr/>
        </p:nvSpPr>
        <p:spPr>
          <a:xfrm>
            <a:off x="685800" y="3977640"/>
            <a:ext cx="10789920" cy="502920"/>
          </a:xfrm>
          <a:prstGeom prst="rect">
            <a:avLst/>
          </a:prstGeom>
          <a:noFill/>
          <a:ln/>
        </p:spPr>
        <p:txBody>
          <a:bodyPr wrap="square" rtlCol="0" anchor="ctr"/>
          <a:lstStyle/>
          <a:p>
            <a:pPr indent="0" marL="0">
              <a:buNone/>
            </a:pPr>
            <a:r>
              <a:rPr lang="en-US" sz="1300" dirty="0">
                <a:solidFill>
                  <a:srgbClr val="9CA3AF"/>
                </a:solidFill>
                <a:latin typeface="Arial" pitchFamily="34" charset="0"/>
                <a:ea typeface="Arial" pitchFamily="34" charset="-122"/>
                <a:cs typeface="Arial" pitchFamily="34" charset="-120"/>
              </a:rPr>
              <a:t>github.com/luka731chris/Forge — full codebase, 572 automated tests, clean architecture</a:t>
            </a:r>
            <a:endParaRPr lang="en-US" sz="1300" dirty="0"/>
          </a:p>
        </p:txBody>
      </p:sp>
      <p:sp>
        <p:nvSpPr>
          <p:cNvPr id="15" name="Shape 13"/>
          <p:cNvSpPr/>
          <p:nvPr/>
        </p:nvSpPr>
        <p:spPr>
          <a:xfrm>
            <a:off x="457200" y="4846320"/>
            <a:ext cx="11247120" cy="1097280"/>
          </a:xfrm>
          <a:prstGeom prst="rect">
            <a:avLst/>
          </a:prstGeom>
          <a:solidFill>
            <a:srgbClr val="1C1C1C"/>
          </a:solidFill>
          <a:ln w="6350">
            <a:solidFill>
              <a:srgbClr val="252525"/>
            </a:solidFill>
            <a:prstDash val="solid"/>
          </a:ln>
        </p:spPr>
      </p:sp>
      <p:sp>
        <p:nvSpPr>
          <p:cNvPr id="16" name="Shape 14"/>
          <p:cNvSpPr/>
          <p:nvPr/>
        </p:nvSpPr>
        <p:spPr>
          <a:xfrm>
            <a:off x="457200" y="4846320"/>
            <a:ext cx="73152" cy="1097280"/>
          </a:xfrm>
          <a:prstGeom prst="rect">
            <a:avLst/>
          </a:prstGeom>
          <a:solidFill>
            <a:srgbClr val="F5A800"/>
          </a:solidFill>
          <a:ln/>
        </p:spPr>
      </p:sp>
      <p:sp>
        <p:nvSpPr>
          <p:cNvPr id="17" name="Text 15"/>
          <p:cNvSpPr/>
          <p:nvPr/>
        </p:nvSpPr>
        <p:spPr>
          <a:xfrm>
            <a:off x="685800" y="4983480"/>
            <a:ext cx="2286000" cy="320040"/>
          </a:xfrm>
          <a:prstGeom prst="rect">
            <a:avLst/>
          </a:prstGeom>
          <a:noFill/>
          <a:ln/>
        </p:spPr>
        <p:txBody>
          <a:bodyPr wrap="square" rtlCol="0" anchor="ctr"/>
          <a:lstStyle/>
          <a:p>
            <a:pPr indent="0" marL="0">
              <a:buNone/>
            </a:pPr>
            <a:r>
              <a:rPr lang="en-US" sz="1300" b="1" dirty="0">
                <a:solidFill>
                  <a:srgbClr val="F5A800"/>
                </a:solidFill>
                <a:latin typeface="Arial" pitchFamily="34" charset="0"/>
                <a:ea typeface="Arial" pitchFamily="34" charset="-122"/>
                <a:cs typeface="Arial" pitchFamily="34" charset="-120"/>
              </a:rPr>
              <a:t>Start a conversation</a:t>
            </a:r>
            <a:endParaRPr lang="en-US" sz="1300" dirty="0"/>
          </a:p>
        </p:txBody>
      </p:sp>
      <p:sp>
        <p:nvSpPr>
          <p:cNvPr id="18" name="Text 16"/>
          <p:cNvSpPr/>
          <p:nvPr/>
        </p:nvSpPr>
        <p:spPr>
          <a:xfrm>
            <a:off x="685800" y="5303520"/>
            <a:ext cx="10789920" cy="502920"/>
          </a:xfrm>
          <a:prstGeom prst="rect">
            <a:avLst/>
          </a:prstGeom>
          <a:noFill/>
          <a:ln/>
        </p:spPr>
        <p:txBody>
          <a:bodyPr wrap="square" rtlCol="0" anchor="ctr"/>
          <a:lstStyle/>
          <a:p>
            <a:pPr indent="0" marL="0">
              <a:buNone/>
            </a:pPr>
            <a:r>
              <a:rPr lang="en-US" sz="1300" dirty="0">
                <a:solidFill>
                  <a:srgbClr val="9CA3AF"/>
                </a:solidFill>
                <a:latin typeface="Arial" pitchFamily="34" charset="0"/>
                <a:ea typeface="Arial" pitchFamily="34" charset="-122"/>
                <a:cs typeface="Arial" pitchFamily="34" charset="-120"/>
              </a:rPr>
              <a:t>Chris Luka  ·  LukaLab  ·  Pittsburgh, PA  ·  luka731chris.github.io/Forge</a:t>
            </a:r>
            <a:endParaRPr lang="en-US" sz="1300" dirty="0"/>
          </a:p>
        </p:txBody>
      </p:sp>
      <p:sp>
        <p:nvSpPr>
          <p:cNvPr id="19" name="Text 17"/>
          <p:cNvSpPr/>
          <p:nvPr/>
        </p:nvSpPr>
        <p:spPr>
          <a:xfrm>
            <a:off x="457200" y="6492240"/>
            <a:ext cx="11247120" cy="274320"/>
          </a:xfrm>
          <a:prstGeom prst="rect">
            <a:avLst/>
          </a:prstGeom>
          <a:noFill/>
          <a:ln/>
        </p:spPr>
        <p:txBody>
          <a:bodyPr wrap="square" rtlCol="0" anchor="ctr"/>
          <a:lstStyle/>
          <a:p>
            <a:pPr indent="0" marL="0">
              <a:buNone/>
            </a:pPr>
            <a:r>
              <a:rPr lang="en-US" sz="1100" dirty="0">
                <a:solidFill>
                  <a:srgbClr val="6B7280"/>
                </a:solidFill>
                <a:latin typeface="Courier New" pitchFamily="34" charset="0"/>
                <a:ea typeface="Courier New" pitchFamily="34" charset="-122"/>
                <a:cs typeface="Courier New" pitchFamily="34" charset="-120"/>
              </a:rPr>
              <a:t>Pittsburgh, PA  ·  April 2026  ·  LukaLab</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2026-04-16T10:54:09Z</dcterms:created>
  <dcterms:modified xsi:type="dcterms:W3CDTF">2026-04-16T10:54:09Z</dcterms:modified>
</cp:coreProperties>
</file>